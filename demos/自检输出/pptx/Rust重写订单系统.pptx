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7"/>
    <p:sldId id="286" r:id="rId38"/>
    <p:sldId id="287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notesMaster" Target="notesMasters/notesMaster1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43F5E"/>
            </a:solidFill>
          </c:spPr>
          <c:cat>
            <c:strRef>
              <c:f>Sheet1!$A$2:$A$7</c:f>
              <c:strCache>
                <c:ptCount val="6"/>
                <c:pt idx="0">
                  <c:v>2024双11峰值QPS</c:v>
                </c:pt>
                <c:pt idx="1">
                  <c:v>2024双11超时率</c:v>
                </c:pt>
                <c:pt idx="2">
                  <c:v>2025年货节峰值QPS</c:v>
                </c:pt>
                <c:pt idx="3">
                  <c:v>2025年货节超时率</c:v>
                </c:pt>
                <c:pt idx="4">
                  <c:v>2025女神节峰值QPS</c:v>
                </c:pt>
                <c:pt idx="5">
                  <c:v>2025女神节超时率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7000.0</c:v>
                </c:pt>
                <c:pt idx="1">
                  <c:v>5.2</c:v>
                </c:pt>
                <c:pt idx="2">
                  <c:v>9000.0</c:v>
                </c:pt>
                <c:pt idx="3">
                  <c:v>8.1</c:v>
                </c:pt>
                <c:pt idx="4">
                  <c:v>11000.0</c:v>
                </c:pt>
                <c:pt idx="5">
                  <c:v>12.3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E8EEF9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3049"/>
            </a:solidFill>
          </a:ln>
        </c:spPr>
        <c:txPr>
          <a:bodyPr/>
          <a:lstStyle/>
          <a:p>
            <a:pPr>
              <a:defRPr sz="1200">
                <a:solidFill>
                  <a:srgbClr val="E8EEF9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F43F5E"/>
            </a:solidFill>
          </c:spPr>
          <c:cat>
            <c:strRef>
              <c:f>Sheet1!$A$2:$A$4</c:f>
              <c:strCache>
                <c:ptCount val="3"/>
                <c:pt idx="0">
                  <c:v>开发成本</c:v>
                </c:pt>
                <c:pt idx="1">
                  <c:v>硬件成本节省</c:v>
                </c:pt>
                <c:pt idx="2">
                  <c:v>业务收益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48.0</c:v>
                </c:pt>
                <c:pt idx="1">
                  <c:v>1000000.0</c:v>
                </c:pt>
                <c:pt idx="2">
                  <c:v>20000000.0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E8EEF9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43049"/>
            </a:solidFill>
          </a:ln>
        </c:spPr>
        <c:txPr>
          <a:bodyPr/>
          <a:lstStyle/>
          <a:p>
            <a:pPr>
              <a:defRPr sz="1200">
                <a:solidFill>
                  <a:srgbClr val="E8EEF9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本章我们将聚焦于如何将 Rust 重写订单系统的计划落地。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我们制定了清晰的时间表，确保快速推进。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要顺利推进，我们需要您的决策和资源。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ttings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880360"/>
            <a:ext cx="9753600" cy="15087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4800" b="1">
                <a:solidFill>
                  <a:srgbClr val="E8EEF9"/>
                </a:solidFill>
                <a:latin typeface="Noto Sans CJK SC"/>
              </a:rPr>
              <a:t>为什么我们应该用 Rust 重写订单系统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31720"/>
            <a:ext cx="853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43F5E"/>
                </a:solidFill>
                <a:latin typeface="Noto Sans CJK SC"/>
              </a:rPr>
              <a:t>exec_report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94860"/>
            <a:ext cx="8534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  <a:latin typeface="Noto Sans CJK SC"/>
              </a:rPr>
              <a:t>大促超时导致用户流失与营收损失，技术选型升级是业务增长的必然选择，Rust 提供性能与安全的最佳平衡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议程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2393442"/>
            <a:ext cx="288036" cy="288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35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现状：订单系统的痛点与风险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0528" y="2280284"/>
            <a:ext cx="514350" cy="51435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685" y="2393442"/>
            <a:ext cx="288036" cy="2880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9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Python 架构的深层问题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rench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285" y="3627881"/>
            <a:ext cx="288036" cy="2880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335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Rust 如何解决这些问题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514724"/>
            <a:ext cx="514350" cy="51435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it-branch__0b12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685" y="3627881"/>
            <a:ext cx="288036" cy="2880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199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重写方案与迁移路径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" y="4862321"/>
            <a:ext cx="288036" cy="2880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35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投入产出与风险控制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4749164"/>
            <a:ext cx="514350" cy="51435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74916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0B1220"/>
                </a:solidFill>
                <a:latin typeface="Noto Sans CJK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9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行动建议与下一步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 / 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总结与呼吁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1885950"/>
            <a:ext cx="480060" cy="4800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uge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41" y="1991563"/>
            <a:ext cx="268833" cy="268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9260" y="164592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Python 订单系统已到性能瓶颈，且不断恶化——最新一次大促超时率达12%，导致约5%的订单流失。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983230"/>
            <a:ext cx="480060" cy="4800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ending-up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41" y="3088843"/>
            <a:ext cx="268833" cy="2688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9260" y="274320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Rust 提供10倍性能提升和更强的内存安全性，可彻底解决超时问题，保障大促稳定。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4080510"/>
            <a:ext cx="480060" cy="4800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ircle-check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741" y="4186123"/>
            <a:ext cx="268833" cy="2688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9260" y="384048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12个月完成核心链路迁移，投资回收期仅1年，预计每年节省因超时导致的营收损失超千万元。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7" y="5177790"/>
            <a:ext cx="480060" cy="4800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it-branch__0b12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41" y="5283403"/>
            <a:ext cx="268833" cy="2688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9260" y="493776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早迁移早受益，否则大促风险越来越高，下一次大促可能带来更大损失。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3 /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angle-alert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43F5E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现状：订单系统的痛点与风险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Noto Sans CJK SC"/>
              </a:rPr>
              <a:t>大促期间订单系统频繁超时，影响用户体验，运维成本高，问题定位困难。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4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近三次大促性能表现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9300"/>
            <a:ext cx="1072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oto Sans CJK SC"/>
              </a:rPr>
              <a:t>超时率随QPS增长呈指数上升趋势，性能瓶颈明显。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107289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5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超时带来的业务损失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用户放弃下单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订单超时导致约15%用户在支付环节流失，以女神节峰值算，损失约1650单/分钟。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ns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客诉激增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大促期间客服人力需翻倍，仍无法应对投诉量3倍增长，客户满意度下降12%。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ing-up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品牌声誉受损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超时问题在社交媒体引发负面话题，2025年货节相关微博热搜阅读量达2.3亿。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6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当前架构的资源消耗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GIL限制CPU利用率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Python GIL导致单进程只能利用1核，为应对高并发被迫开200个容器实例，资源浪费严重。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ns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E8EEF9"/>
                </a:solidFill>
                <a:latin typeface="Noto Sans CJK SC"/>
              </a:rPr>
              <a:t>内存占用高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单个容器内存2GB，200个实例共消耗400GB内存，年内存成本超200万元。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数据库连接数飙升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高峰时数据库连接数达到5000上限，经常触发连接池抛错，影响其他业务。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7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43F5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uge__f43f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E8EEF9"/>
                </a:solidFill>
                <a:latin typeface="Noto Sans CJK SC"/>
              </a:rPr>
              <a:t>即使无限加机器，Python架构的性能天花板已至，无法支撑未来订单增长。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Noto Sans CJK SC"/>
              </a:rPr>
              <a:t>订单量年增长30%，现有架构两年内QPS需求将达20000，超时率预计突破20%。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yers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43F5E"/>
                </a:solidFill>
                <a:latin typeface="Noto Sans CJK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Python 架构的深层问题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Noto Sans CJK SC"/>
              </a:rPr>
              <a:t>全局解释器锁（GIL）限制并行能力，动态类型导致运行时错误，GC暂停引入不可控延迟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9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Python vs Rust：架构特性对比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54605"/>
            <a:ext cx="5120640" cy="257175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897505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289750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0B1220"/>
                </a:solidFill>
                <a:latin typeface="Noto Sans CJK SC"/>
              </a:rPr>
              <a:t>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28975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686175"/>
            <a:ext cx="44378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EEF9"/>
                </a:solidFill>
                <a:latin typeface="Noto Sans CJK SC"/>
              </a:rPr>
              <a:t>• 动态类型检查，类型错误在运行时才能发现</a:t>
            </a:r>
          </a:p>
          <a:p>
            <a:pPr algn="l"/>
            <a:r>
              <a:rPr sz="1200" b="0">
                <a:solidFill>
                  <a:srgbClr val="E8EEF9"/>
                </a:solidFill>
                <a:latin typeface="Noto Sans CJK SC"/>
              </a:rPr>
              <a:t>• 垃圾回收（GC）机制会不定期暂停程序执行</a:t>
            </a:r>
          </a:p>
          <a:p>
            <a:pPr algn="l"/>
            <a:r>
              <a:rPr sz="1200" b="0">
                <a:solidFill>
                  <a:srgbClr val="E8EEF9"/>
                </a:solidFill>
                <a:latin typeface="Noto Sans CJK SC"/>
              </a:rPr>
              <a:t>• GIL限制了多线程并行，无法充分利用多核CPU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554605"/>
            <a:ext cx="5120640" cy="257175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897505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89750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0B1220"/>
                </a:solidFill>
                <a:latin typeface="Noto Sans CJK SC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8975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686175"/>
            <a:ext cx="44378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静态类型系统，编译期消除类型错误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零成本抽象，所有权模型无需GC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无GIL，天然支持线程安全并行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10 /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Python 隐式错误如何影响订单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类型错误致订单状态更新失败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每月约50次在支付回调中传入字符串而非枚举类型，导致状态机卡住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内存泄漏引发OOM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平均每周1次因循环引用未被回收导致进程崩溃，需人工重启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ins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库依赖冲突导致部署失败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大促前升级三方库时版本不兼容，回滚耗时90分钟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11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Python 系统故障时间线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360" y="3765042"/>
            <a:ext cx="10241280" cy="274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3413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2024年6月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4620"/>
            <a:ext cx="3413759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内存泄漏致订单数据丢失</a:t>
            </a:r>
          </a:p>
        </p:txBody>
      </p:sp>
      <p:sp>
        <p:nvSpPr>
          <p:cNvPr id="6" name="Oval 5"/>
          <p:cNvSpPr/>
          <p:nvPr/>
        </p:nvSpPr>
        <p:spPr>
          <a:xfrm>
            <a:off x="2356103" y="3696462"/>
            <a:ext cx="164592" cy="164592"/>
          </a:xfrm>
          <a:prstGeom prst="ellipse">
            <a:avLst/>
          </a:prstGeom>
          <a:solidFill>
            <a:srgbClr val="0EA5E9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18788"/>
            <a:ext cx="3413759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一次性丢失2000+订单，通过日志恢复花费8小时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3413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2024年11月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74620"/>
            <a:ext cx="3413759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双11GC长暂停大面积超时</a:t>
            </a:r>
          </a:p>
        </p:txBody>
      </p:sp>
      <p:sp>
        <p:nvSpPr>
          <p:cNvPr id="10" name="Oval 9"/>
          <p:cNvSpPr/>
          <p:nvPr/>
        </p:nvSpPr>
        <p:spPr>
          <a:xfrm>
            <a:off x="6013704" y="3696462"/>
            <a:ext cx="164592" cy="164592"/>
          </a:xfrm>
          <a:prstGeom prst="ellipse">
            <a:avLst/>
          </a:prstGeom>
          <a:solidFill>
            <a:srgbClr val="0EA5E9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4018788"/>
            <a:ext cx="3413759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GC暂停达2.3秒导致500+请求超时，影响促销活动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194560"/>
            <a:ext cx="341375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2025年2月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2674620"/>
            <a:ext cx="3413759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上游库更新兼容性问题</a:t>
            </a:r>
          </a:p>
        </p:txBody>
      </p:sp>
      <p:sp>
        <p:nvSpPr>
          <p:cNvPr id="14" name="Oval 13"/>
          <p:cNvSpPr/>
          <p:nvPr/>
        </p:nvSpPr>
        <p:spPr>
          <a:xfrm>
            <a:off x="9671303" y="3696462"/>
            <a:ext cx="164592" cy="164592"/>
          </a:xfrm>
          <a:prstGeom prst="ellipse">
            <a:avLst/>
          </a:prstGeom>
          <a:solidFill>
            <a:srgbClr val="F43F5E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4018788"/>
            <a:ext cx="3413759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依赖的ORM库更新后接口变更，回滚耗时4小时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12 /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一次典型故障处理流程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2870073"/>
            <a:ext cx="8229600" cy="20574"/>
          </a:xfrm>
          <a:prstGeom prst="rect">
            <a:avLst/>
          </a:prstGeom>
          <a:solidFill>
            <a:srgbClr val="24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697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f43f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30" y="2666390"/>
            <a:ext cx="427939" cy="4279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告警触发: 监控系统检测到下单成功率低于95%触发P0告警</a:t>
            </a:r>
          </a:p>
        </p:txBody>
      </p:sp>
      <p:sp>
        <p:nvSpPr>
          <p:cNvPr id="7" name="Oval 6"/>
          <p:cNvSpPr/>
          <p:nvPr/>
        </p:nvSpPr>
        <p:spPr>
          <a:xfrm>
            <a:off x="43129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le-text__f43f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430" y="2666390"/>
            <a:ext cx="427939" cy="427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747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排查日志: 值班工程师登录机器分析应用日志，平均耗时45分钟</a:t>
            </a:r>
          </a:p>
        </p:txBody>
      </p:sp>
      <p:sp>
        <p:nvSpPr>
          <p:cNvPr id="10" name="Oval 9"/>
          <p:cNvSpPr/>
          <p:nvPr/>
        </p:nvSpPr>
        <p:spPr>
          <a:xfrm>
            <a:off x="70561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61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识别根因: 发现Python线程因GIL竞争阻塞，导致请求排队</a:t>
            </a:r>
          </a:p>
        </p:txBody>
      </p:sp>
      <p:sp>
        <p:nvSpPr>
          <p:cNvPr id="13" name="Oval 12"/>
          <p:cNvSpPr/>
          <p:nvPr/>
        </p:nvSpPr>
        <p:spPr>
          <a:xfrm>
            <a:off x="97993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rver__f43f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6830" y="2666390"/>
            <a:ext cx="427939" cy="4279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611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恢复服务: 重启Python进程恢复正常，但期间丢失部分订单数据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13 /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rench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43F5E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Rust 如何解决这些问题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Noto Sans CJK SC"/>
              </a:rPr>
              <a:t>零成本抽象、无GC和所有权模型如何让系统既快又安全？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14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Rust vs Python：性能实测数据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0285"/>
            <a:ext cx="5120640" cy="3120389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623185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ttings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40" y="2751429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0898" y="262318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E8EEF9"/>
                </a:solidFill>
                <a:latin typeface="Noto Sans CJK SC"/>
              </a:rPr>
              <a:t>Python（当前系统）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411855"/>
            <a:ext cx="4437888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订单查询平均延迟 50ms，高峰期飙升至 200ms 以上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价格计算平均延迟 30ms，受GC影响波动达 ±20ms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同等负载下内存占用 1.2GB，OOM 风险较高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280285"/>
            <a:ext cx="5120640" cy="3120389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623185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262318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0B1220"/>
                </a:solidFill>
                <a:latin typeface="Noto Sans CJK SC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262318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Rust（重写后）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411855"/>
            <a:ext cx="4437888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订单查询平均延迟 2ms，P99 稳定在 5ms 以内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价格计算平均延迟 0.5ms，无GC抖动，延迟稳定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同等负载下内存占用仅 240MB，降低 80%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15 /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Rust 的安全保证在订单场景的价值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eld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编译时消除空指针与数据竞争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Noto Sans CJK SC"/>
              </a:rPr>
              <a:t>所有权系统在编译期检查所有引用有效性，杜绝运行时 NullPointerException，订单状态切换不会因空指针崩溃。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无GC，延迟稳定无暂停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Rust 无需垃圾回收，内存自动释放，不会出现 Stop-The-World 暂停，订单处理延迟始终在微秒级。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ward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强制错误处理，无未捕获异常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Noto Sans CJK SC"/>
              </a:rPr>
              <a:t>Rust 通过 Result/Option 强制调用方处理错误，不会出现 Python 中因异常导致订单数据不一致的问题。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16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EEF9"/>
                </a:solidFill>
                <a:latin typeface="Noto Sans CJK SC"/>
              </a:rPr>
              <a:t>行业案例：Rust 在关键系统中的应用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ins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E8EEF9"/>
                </a:solidFill>
                <a:latin typeface="Noto Sans CJK SC"/>
              </a:rPr>
              <a:t>Dropbox 文件存储核心重写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Dropbox 用 Rust 重写了文件同步引擎，减少了 50% 的服务器数量，节省数亿美元运维成本。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ap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EF9"/>
                </a:solidFill>
                <a:latin typeface="Noto Sans CJK SC"/>
              </a:rPr>
              <a:t>Cloudflare 边缘节点高并发处理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Cloudflare 在每台边缘服务器上用 Rust 处理数百万并发连接，延迟降低 3 倍，稳定性达 99.999%。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ing-up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Discord 实时通信模块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Discord 用 Rust 重写实时消息网关后，延迟降低 10 倍，同时支撑了 5 亿用户同时在线。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17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43F5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ield__f43f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E8EEF9"/>
                </a:solidFill>
                <a:latin typeface="Noto Sans CJK SC"/>
              </a:rPr>
              <a:t>Rust 的性能与安全完美匹配订单系统高并发、低延迟、强一致的核心需求。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Noto Sans CJK SC"/>
              </a:rPr>
              <a:t>实测订单查询延迟降低 25 倍，内存占用降低 80%，且编译期消除所有内存安全问题，预计运维成本降低 60%。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18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t-branch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43F5E"/>
                </a:solidFill>
                <a:latin typeface="Noto Sans CJK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重写方案与迁移路径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Noto Sans CJK SC"/>
              </a:rPr>
              <a:t>先重写最核心的订单处理链路，逐步替换。采用并行运行策略，新旧系统同时运行，预计6个月完成核心功能，12个月完全迁移。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19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迁移步骤概览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2870073"/>
            <a:ext cx="8229600" cy="20574"/>
          </a:xfrm>
          <a:prstGeom prst="rect">
            <a:avLst/>
          </a:prstGeom>
          <a:solidFill>
            <a:srgbClr val="24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697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697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EEF9"/>
                </a:solidFill>
                <a:latin typeface="Noto Sans CJK SC"/>
              </a:rPr>
              <a:t>第1-2个月：基建搭建: 完成Rust项目脚手架、CI/CD流水线、核心库选型（Tokio、Actix-web、SQLx），建立编码规范与代码审查流程。</a:t>
            </a:r>
          </a:p>
        </p:txBody>
      </p:sp>
      <p:sp>
        <p:nvSpPr>
          <p:cNvPr id="7" name="Oval 6"/>
          <p:cNvSpPr/>
          <p:nvPr/>
        </p:nvSpPr>
        <p:spPr>
          <a:xfrm>
            <a:off x="43129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2920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EEF9"/>
                </a:solidFill>
                <a:latin typeface="Noto Sans CJK SC"/>
              </a:rPr>
              <a:t>第3-4个月：订单创建与支付回调: 重写订单创建服务，实现与第三方支付网关的高性能回调接口，通过AB测试验证正确性与吞吐量提升。</a:t>
            </a:r>
          </a:p>
        </p:txBody>
      </p:sp>
      <p:sp>
        <p:nvSpPr>
          <p:cNvPr id="10" name="Oval 9"/>
          <p:cNvSpPr/>
          <p:nvPr/>
        </p:nvSpPr>
        <p:spPr>
          <a:xfrm>
            <a:off x="70561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_f43f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630" y="26663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EEF9"/>
                </a:solidFill>
                <a:latin typeface="Noto Sans CJK SC"/>
              </a:rPr>
              <a:t>第5-6个月：订单查询与退款: 重写订单查询API（支持复杂筛选与分页）和退款流程，确保数据一致性和事务补偿机制。</a:t>
            </a:r>
          </a:p>
        </p:txBody>
      </p:sp>
      <p:sp>
        <p:nvSpPr>
          <p:cNvPr id="13" name="Oval 12"/>
          <p:cNvSpPr/>
          <p:nvPr/>
        </p:nvSpPr>
        <p:spPr>
          <a:xfrm>
            <a:off x="9799320" y="246888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it-branch__f43f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830" y="2666390"/>
            <a:ext cx="427939" cy="4279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61120" y="3429000"/>
            <a:ext cx="2499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EEF9"/>
                </a:solidFill>
                <a:latin typeface="Noto Sans CJK SC"/>
              </a:rPr>
              <a:t>第7-12个月：外围功能迁移与下线: 迁移剩余功能如售后、发票、通知等，进行全量回归测试，将流量100%切换至Rust系统，正式下线Python服务。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20 /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如何降低迁移风险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Strangler Fig模式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逐步用Rust微服务替换Python模块，每个替换后立即灰度验证，确保1%流量无异常后再逐步增加至100%。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数据双向同步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通过Debezium监听数据库变更日志，实现Rust与Python系统的实时双向同步，任意时刻可回滚。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zap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灰度流量放量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每个模块先导流1%的线上请求，监控延迟、错误率、业务成功率，确认无误后以10%步进放量至全量。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21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关键里程碑时间表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5360" y="3765042"/>
            <a:ext cx="10241280" cy="2743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249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4620"/>
            <a:ext cx="2499360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订单创建MVP上线</a:t>
            </a:r>
          </a:p>
        </p:txBody>
      </p:sp>
      <p:sp>
        <p:nvSpPr>
          <p:cNvPr id="6" name="Oval 5"/>
          <p:cNvSpPr/>
          <p:nvPr/>
        </p:nvSpPr>
        <p:spPr>
          <a:xfrm>
            <a:off x="1898904" y="3696462"/>
            <a:ext cx="164592" cy="164592"/>
          </a:xfrm>
          <a:prstGeom prst="ellipse">
            <a:avLst/>
          </a:prstGeom>
          <a:solidFill>
            <a:srgbClr val="0EA5E9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18788"/>
            <a:ext cx="2499360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完成订单创建核心功能，灰度5%流量，延迟降低至原来的1/5，错误率趋近于零。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94560"/>
            <a:ext cx="249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M4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674620"/>
            <a:ext cx="2499360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支付回调迁移完成</a:t>
            </a:r>
          </a:p>
        </p:txBody>
      </p:sp>
      <p:sp>
        <p:nvSpPr>
          <p:cNvPr id="10" name="Oval 9"/>
          <p:cNvSpPr/>
          <p:nvPr/>
        </p:nvSpPr>
        <p:spPr>
          <a:xfrm>
            <a:off x="4642104" y="3696462"/>
            <a:ext cx="164592" cy="164592"/>
          </a:xfrm>
          <a:prstGeom prst="ellipse">
            <a:avLst/>
          </a:prstGeom>
          <a:solidFill>
            <a:srgbClr val="0EA5E9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018788"/>
            <a:ext cx="2499360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100%支付回调由Rust系统处理，响应时间从200ms降至20ms，双写一致性验证通过。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249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M6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74620"/>
            <a:ext cx="2499360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核心链路全覆盖</a:t>
            </a:r>
          </a:p>
        </p:txBody>
      </p:sp>
      <p:sp>
        <p:nvSpPr>
          <p:cNvPr id="14" name="Oval 13"/>
          <p:cNvSpPr/>
          <p:nvPr/>
        </p:nvSpPr>
        <p:spPr>
          <a:xfrm>
            <a:off x="7385304" y="3696462"/>
            <a:ext cx="164592" cy="164592"/>
          </a:xfrm>
          <a:prstGeom prst="ellipse">
            <a:avLst/>
          </a:prstGeom>
          <a:solidFill>
            <a:srgbClr val="0EA5E9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018788"/>
            <a:ext cx="2499360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订单创建、支付回调、订单查询、退款全部由Rust承载，承担60%总请求量，系统长期稳定。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94560"/>
            <a:ext cx="249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M12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74620"/>
            <a:ext cx="2499360" cy="582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8EEF9"/>
                </a:solidFill>
                <a:latin typeface="Noto Sans CJK SC"/>
              </a:rPr>
              <a:t>Python系统下线</a:t>
            </a:r>
          </a:p>
        </p:txBody>
      </p:sp>
      <p:sp>
        <p:nvSpPr>
          <p:cNvPr id="18" name="Oval 17"/>
          <p:cNvSpPr/>
          <p:nvPr/>
        </p:nvSpPr>
        <p:spPr>
          <a:xfrm>
            <a:off x="10128504" y="3696462"/>
            <a:ext cx="164592" cy="164592"/>
          </a:xfrm>
          <a:prstGeom prst="ellipse">
            <a:avLst/>
          </a:prstGeom>
          <a:solidFill>
            <a:srgbClr val="F43F5E"/>
          </a:solidFill>
          <a:ln w="31750">
            <a:solidFill>
              <a:srgbClr val="0B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018788"/>
            <a:ext cx="2499360" cy="10561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Noto Sans CJK SC"/>
              </a:rPr>
              <a:t>所有外围功能迁移完毕，经评审后关闭Python订单服务，资源节省40%服务器成本。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22 / 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团队准备与学习成本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rs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快速上手Rust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现有Python团队中80%的工程师在1个月内通过内部教程和Code Review能够独立开发Rust功能。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ending-up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专家带队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安排2名资深后端工程师全职主导架构设计，另招聘1名外部Rust专家参与核心库评审与性能调优。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培训资源充裕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提供《Rust程序设计》《Rust实战》等书籍订阅，并每周组织一次Rust技术分享和Pair Programming。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23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angle-alert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43F5E"/>
                </a:solidFill>
                <a:latin typeface="Noto Sans CJK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投入产出与风险控制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Noto Sans CJK SC"/>
              </a:rPr>
              <a:t>预估总投入：4人年（约200万人民币），收益：节省服务器成本50%，用户转化提升10%，风险：迁移期间新bug、团队学习负担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24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成本收益分析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29300"/>
            <a:ext cx="1072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Noto Sans CJK SC"/>
              </a:rPr>
              <a:t>Rust重写后，服务器数量从30台降至10台，年节省硬件成本约100万；转化率每提升1%贡献约200万年收入。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57400"/>
          <a:ext cx="10728959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25 / 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风险与缓解措施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E8EEF9"/>
                </a:solidFill>
                <a:latin typeface="Noto Sans CJK SC"/>
              </a:rPr>
              <a:t>新系统bug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通过灰度发布逐步放量，配置全链路监控和自动回滚，确保问题影响范围控制在1%流量内。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sers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E8EEF9"/>
                </a:solidFill>
                <a:latin typeface="Noto Sans CJK SC"/>
              </a:rPr>
              <a:t>团队不适应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组织内部Rust培训、每周Code Review，并聘请2名外部Rust专家进行一对一辅导。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ock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项目延期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设定每两周一个里程碑，每日站会同步进度，预留20%缓冲时间应对突发问题。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26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重写 vs 优化现有Python系统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0285"/>
            <a:ext cx="5120640" cy="3120389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623185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ttings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140" y="2751429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0898" y="262318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优化Python系统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411855"/>
            <a:ext cx="4437888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8EEF9"/>
                </a:solidFill>
                <a:latin typeface="Noto Sans CJK SC"/>
              </a:rPr>
              <a:t>• 短期修复超时问题，但Python GIL限制无法充分利用多核，天花板明显。</a:t>
            </a:r>
          </a:p>
          <a:p>
            <a:pPr algn="l"/>
            <a:r>
              <a:rPr sz="1500" b="0">
                <a:solidFill>
                  <a:srgbClr val="E8EEF9"/>
                </a:solidFill>
                <a:latin typeface="Noto Sans CJK SC"/>
              </a:rPr>
              <a:t>• 长期维护成本逐年上升，每季度因性能问题导致约5次线上事故。</a:t>
            </a:r>
          </a:p>
          <a:p>
            <a:pPr algn="l"/>
            <a:r>
              <a:rPr sz="1500" b="0">
                <a:solidFill>
                  <a:srgbClr val="E8EEF9"/>
                </a:solidFill>
                <a:latin typeface="Noto Sans CJK SC"/>
              </a:rPr>
              <a:t>• 3年TCO包括服务器扩容、事故处理人力约300万元。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280285"/>
            <a:ext cx="5120640" cy="3120389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623185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ttings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60" y="2751429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9218" y="262318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E8EEF9"/>
                </a:solidFill>
                <a:latin typeface="Noto Sans CJK SC"/>
              </a:rPr>
              <a:t>重写为Rust系统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411855"/>
            <a:ext cx="4437888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前期投入4人年约200万元，但一次投入，长期受益。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Rust无GC、零开销抽象，吞吐量提升10倍，满足未来3年增长。</a:t>
            </a:r>
          </a:p>
          <a:p>
            <a:pPr algn="l"/>
            <a:r>
              <a:rPr sz="1600" b="0">
                <a:solidFill>
                  <a:srgbClr val="E8EEF9"/>
                </a:solidFill>
                <a:latin typeface="Noto Sans CJK SC"/>
              </a:rPr>
              <a:t>• 3年TCO包括开发、运维约120万元，比优化方案低40%。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43F5E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27 /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ROI 预估总结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E8EEF9"/>
                </a:solidFill>
                <a:latin typeface="Noto Sans CJK SC"/>
              </a:rPr>
              <a:t>投资回收期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约12个月，即投入200万后第一年内即可通过节省硬件和转化提升收回成本。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ending-up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E8EEF9"/>
                </a:solidFill>
                <a:latin typeface="Noto Sans CJK SC"/>
              </a:rPr>
              <a:t>3年净现值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约5000万，基于年营收增长2000万、硬件节省100万、折现率10%计算得出。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E8EEF9"/>
                </a:solidFill>
                <a:latin typeface="Noto Sans CJK SC"/>
              </a:rPr>
              <a:t>非财务收益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技术栈现代化，团队掌握Rust技能，吸引优秀工程师，降低招聘成本。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28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43F5E"/>
                </a:solidFill>
                <a:latin typeface="Noto Sans CJK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行动建议与下一步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Noto Sans CJK SC"/>
              </a:rPr>
              <a:t>如何从现在开始，将 Rust 重写计划变为现实？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29 /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下一步具体行动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E8EEF9"/>
                </a:solidFill>
                <a:latin typeface="Noto Sans CJK SC"/>
              </a:rPr>
              <a:t>本周：技术选型确认与内部培训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Noto Sans CJK SC"/>
              </a:rPr>
              <a:t>确定 Rust 框架（Actix-web vs Axum）、数据库驱动、序列化库，并组织两场 Rust 速成培训覆盖核心团队成员。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ap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EF9"/>
                </a:solidFill>
                <a:latin typeface="Noto Sans CJK SC"/>
              </a:rPr>
              <a:t>2周内：完成POC并验证订单创…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用 Rust 实现订单创建 API 的原型，在500并发下测试延迟，对比现有Java服务请求耗时。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arget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E8EEF9"/>
                </a:solidFill>
                <a:latin typeface="Noto Sans CJK SC"/>
              </a:rPr>
              <a:t>1个月内：提交项目计划书与预…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输出详细实施路线图、风险预案、资源需求，申请200万预算及4个HC正式启动项目。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30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8EEF9"/>
                </a:solidFill>
                <a:latin typeface="Noto Sans CJK SC"/>
              </a:rPr>
              <a:t>需要您支持的事项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ers__0b1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E8EEF9"/>
                </a:solidFill>
                <a:latin typeface="Noto Sans CJK SC"/>
              </a:rPr>
              <a:t>批准4个HC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新增3名后端开发工程师和1名资深Rust专家，补齐团队能力短板，确保6个月内完成核心模块重写。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ins__0b1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授权200万预算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覆盖开发阶段的人力成本、云资源（用于灰度测试）、外部咨询及培训费用。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9525">
            <a:solidFill>
              <a:srgbClr val="243049"/>
            </a:solidFill>
          </a:ln>
          <a:effectLst>
            <a:outerShdw blurRad="90000" dist="30000" dir="5400000" rotWithShape="0">
              <a:srgbClr val="e8eef9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0b12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E8EEF9"/>
                </a:solidFill>
                <a:latin typeface="Noto Sans CJK SC"/>
              </a:rPr>
              <a:t>协调跨部门配合灰度测试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Noto Sans CJK SC"/>
              </a:rPr>
              <a:t>请销售、客服团队配合在低峰期进行10%流量切量，并建立快速反馈通道，如专属钉钉群。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4A3B8"/>
                </a:solidFill>
                <a:latin typeface="Noto Sans CJK SC"/>
              </a:rPr>
              <a:t>31 /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77940"/>
            <a:ext cx="670560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Noto Sans CJK SC"/>
              </a:rPr>
              <a:t>为什么我们应该用 Rust 重写订单系统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0EA5E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0ea5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743200"/>
            <a:ext cx="975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E8EEF9"/>
                </a:solidFill>
                <a:latin typeface="Noto Sans CJK SC"/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977639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94A3B8"/>
                </a:solidFill>
                <a:latin typeface="Noto Sans CJK SC"/>
              </a:rPr>
              <a:t>我们准备好了，期待您的决策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4800600"/>
            <a:ext cx="9753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Noto Sans CJK SC"/>
              </a:rPr>
              <a:t>任何问题欢迎随时交流，一起打造更可靠的技术底座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