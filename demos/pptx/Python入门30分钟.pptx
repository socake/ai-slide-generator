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首先问大家：你每天用手机电脑，有没有想过它们怎么工作？今天我们就用Python来揭开这层面纱。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Python的应用非常广泛，从数据科学到网站开发，从人工智能到自动化，几乎无处不在。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对比一下Python和C++、Java等语言，你会发现Python在可读性和开发效率上优势明显。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核心思想：计算机很笨，需要你把每一步说清楚。Python就是你和计算机之间的翻译官。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本章我们将从零开始搭建编程环境，并运行第一行代码。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确保每一步都操作正确，尤其是PATH勾选。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交互模式适合尝试，脚本模式是实际开发的主要方式。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让学生亲自操作，体验成功的喜悦。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函数是编程的核心抽象工具，今天我们学习如何定义和调用函数。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通过示例演示定义和调用，让学生理解函数如何打包代码。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重点讲解 return 的作用，以及如何利用返回值进行后续计算。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引导学生将之前学的条件判断封装成函数，体会模块化编程的优势。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列表有序，字典无序但查找快；两者都是基础且强大的工具。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列表就像一串珍珠，每个位置都有编号，可以随时增减。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字典类似现实中的字典，通过词条（键）快速找到释义（值）。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两者可嵌套使用，列表里放字典常见于表格数据。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53500" y="3909060"/>
            <a:ext cx="4526280" cy="452628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2563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719" y="96012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743200"/>
            <a:ext cx="9997440" cy="17830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Noto Sans CJK SC"/>
              </a:rPr>
              <a:t>Python 入门 30 分钟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9200" y="2268626"/>
            <a:ext cx="146304" cy="2057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6192" y="2194560"/>
            <a:ext cx="94366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Noto Sans CJK SC"/>
              </a:rPr>
              <a:t>跟着我，今天就能跑出你的第一个Python程序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4732020"/>
            <a:ext cx="9509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64748B"/>
                </a:solidFill>
                <a:latin typeface="Noto Sans CJK SC"/>
              </a:rPr>
              <a:t>零基础也能写代码，从变量到字典，一次讲透核心概念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今天学什么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8881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280284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2280284"/>
            <a:ext cx="51435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3550" y="198881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Python 是什么——为什么它简单又强大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8881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10528" y="2280284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d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685" y="2393442"/>
            <a:ext cx="288036" cy="2880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19950" y="198881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搭建环境 &amp; 第一行代码——安装和print('Hello World')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23260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7" y="3514724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d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" y="3627881"/>
            <a:ext cx="288036" cy="2880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33550" y="3223260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变量与数字、字符串——存储和操作数据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23260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0528" y="3514724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3514724"/>
            <a:ext cx="51435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19950" y="3223260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条件判断与循环——让程序做决策、重复执行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5769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4127" y="4749164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end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285" y="4862321"/>
            <a:ext cx="288036" cy="2880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33550" y="445769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函数调用与定义——封装逻辑，避免重复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45769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10528" y="4749164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atabase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685" y="4862321"/>
            <a:ext cx="288036" cy="28803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19950" y="445769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列表与字典——管理多个数据的神器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今天你掌握了什么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8881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280284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bas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" y="2393442"/>
            <a:ext cx="288036" cy="288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3550" y="198881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变量用来存储数据，但要注意类型，比如整数和字符串不能直接拼接。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8881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10528" y="2280284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orkflow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685" y="2393442"/>
            <a:ext cx="288036" cy="2880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19950" y="198881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条件判断（if）和循环（for/while）让你控制程序流程，处理不同情况。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23260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7" y="3514724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de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285" y="3627881"/>
            <a:ext cx="288036" cy="2880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33550" y="3223260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用 def 定义函数、return 返回值，可以一次编写多次复用。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23260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0528" y="3514724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atabas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685" y="3627881"/>
            <a:ext cx="288036" cy="2880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19950" y="3223260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列表 [] 和字典 {} 帮你管理多个数据，例如存储学生成绩或购物清单。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5769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4127" y="4749164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wrench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285" y="4862321"/>
            <a:ext cx="288036" cy="2880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33550" y="445769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你已经具备了继续深入的基础，可以尝试解决更复杂的问题。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2563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59E0B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什么是 Python？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64748B"/>
                </a:solidFill>
                <a:latin typeface="Noto Sans CJK SC"/>
              </a:rPr>
              <a:t>一种强大而简单的编程语言，带你走进编程世界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Python 能做什么？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bas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数据分析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Noto Sans CJK SC"/>
              </a:rPr>
              <a:t>使用 Pandas 和 NumPy 处理百万行表格数据，进行统计分析和可视化，如电影评分分析。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6688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59296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ocket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540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2914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网站开发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9296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Noto Sans CJK SC"/>
              </a:rPr>
              <a:t>通过 Django 或 Flask 框架快速搭建博客、电商等 Web 应用，例如 Instagram 后端用 Django。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7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ghtbulb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372" y="4407636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77746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人工智能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oto Sans CJK SC"/>
              </a:rPr>
              <a:t>利用 TensorFlow 和 PyTorch 训练图像识别、语音助手等模型，AlphaGo 的策略网络也用 Python。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6688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59296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workflow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540" y="4407636"/>
            <a:ext cx="326440" cy="326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2914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自动化脚本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9296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Noto Sans CJK SC"/>
              </a:rPr>
              <a:t>自动处理文件、发送邮件、爬取网页数据，比如每天自动备份文件到云盘。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为什么选择 Python 而不是其他语言？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05964"/>
            <a:ext cx="5120640" cy="366903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2896" y="2348865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96" y="2348865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Noto Sans CJK SC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0898" y="234886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Python 的优势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96" y="3137535"/>
            <a:ext cx="4437888" cy="21945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• 代码简洁，用缩进代替花括号，可读性极高，新手也能看懂。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• 报错信息清晰明了，能直接指出哪一行有问题，调试成本低。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• 拥有超过 20 万个第三方库，无需从零造轮子。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• 支持 Windows、macOS、Linux，一次编写到处运行。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840" y="2005964"/>
            <a:ext cx="5120640" cy="366903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81216" y="2348865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81216" y="2348865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>
                <a:solidFill>
                  <a:srgbClr val="FFFFFF"/>
                </a:solidFill>
                <a:latin typeface="Noto Sans CJK SC"/>
              </a:rPr>
              <a:t>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9218" y="234886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Noto Sans CJK SC"/>
              </a:rPr>
              <a:t>其他语言（如 C++/Java）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1216" y="3137535"/>
            <a:ext cx="4437888" cy="21945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• 语法复杂，需要管理内存、分号等细节，代码冗长。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• 报错信息有时晦涩，新手难以定位错误。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• 标准库有限，需要自己实现很多功能，开发周期长。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• 部分语言平台依赖性强，跨平台需额外配置。</a:t>
            </a:r>
          </a:p>
        </p:txBody>
      </p:sp>
      <p:sp>
        <p:nvSpPr>
          <p:cNvPr id="13" name="Oval 12"/>
          <p:cNvSpPr/>
          <p:nvPr/>
        </p:nvSpPr>
        <p:spPr>
          <a:xfrm>
            <a:off x="5684520" y="342900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4520" y="34290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  <a:latin typeface="Noto Sans CJK SC"/>
              </a:rP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22080" y="822960"/>
            <a:ext cx="5608320" cy="5608320"/>
          </a:xfrm>
          <a:prstGeom prst="ellipse">
            <a:avLst/>
          </a:prstGeom>
          <a:solidFill>
            <a:srgbClr val="F59E0B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de__f59e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10" y="1371600"/>
            <a:ext cx="617220" cy="617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331720"/>
            <a:ext cx="9753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F172A"/>
                </a:solidFill>
                <a:latin typeface="Noto Sans CJK SC"/>
              </a:rPr>
              <a:t>编程就是用计算机能理解的语言，把你要做的事情一步步描述清楚。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526280"/>
            <a:ext cx="9753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64748B"/>
                </a:solidFill>
                <a:latin typeface="Noto Sans CJK SC"/>
              </a:rPr>
              <a:t>Python 的语法最接近英语，比如 print('Hello')，你几乎能猜到它的意思。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de__2563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59E0B"/>
                </a:solidFill>
                <a:latin typeface="Noto Sans CJK S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搭好环境，写出第一行代码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只需安装 Python 和一个文本编辑器即可开始，命令行是对话窗口，第一行代码是 print('Hello, World!')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安装 Python 的步骤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400" y="2870073"/>
            <a:ext cx="7315200" cy="2057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26919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26919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Noto Sans CJK SC"/>
              </a:rPr>
              <a:t>下载安装包: 打开官网 python.org，下载对应你操作系统（Windows/Mac/Linux）的最新版本安装包。</a:t>
            </a:r>
          </a:p>
        </p:txBody>
      </p:sp>
      <p:sp>
        <p:nvSpPr>
          <p:cNvPr id="7" name="Oval 6"/>
          <p:cNvSpPr/>
          <p:nvPr/>
        </p:nvSpPr>
        <p:spPr>
          <a:xfrm>
            <a:off x="5684519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84519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  <a:latin typeface="Noto Sans CJK S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Noto Sans CJK SC"/>
              </a:rPr>
              <a:t>勾选 PATH: 安装时务必勾选“Add Python to PATH”，否则之后在终端无法直接使用 python 命令。</a:t>
            </a:r>
          </a:p>
        </p:txBody>
      </p:sp>
      <p:sp>
        <p:nvSpPr>
          <p:cNvPr id="10" name="Oval 9"/>
          <p:cNvSpPr/>
          <p:nvPr/>
        </p:nvSpPr>
        <p:spPr>
          <a:xfrm>
            <a:off x="9342119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ircle-check__f59e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630" y="2666390"/>
            <a:ext cx="427939" cy="4279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19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Noto Sans CJK SC"/>
              </a:rPr>
              <a:t>验证安装: 打开终端（Win: cmd, Mac/Linux: terminal），输入 python --version，应显示版本号如 Python 3.12.0。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两种运行 Python 的方式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ghtbulb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交互模式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在终端输入 python 进入交互环境，每输一行代码立即执行，适合快速实验和测试小代码片段。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ocket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脚本模式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将代码保存到 .py 文件，如 hello.py，再运行 python hello.py 执行整个程序，适合编写完整功能。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arget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本课选择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我们主要使用脚本模式，因为它能让你体验完整的“写代码-运行-看结果”开发流程。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22080" y="822960"/>
            <a:ext cx="5608320" cy="5608320"/>
          </a:xfrm>
          <a:prstGeom prst="ellipse">
            <a:avLst/>
          </a:prstGeom>
          <a:solidFill>
            <a:srgbClr val="F59E0B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lag__f59e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10" y="1371600"/>
            <a:ext cx="617220" cy="617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331720"/>
            <a:ext cx="9753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编写并运行第一个Python程序是编程之旅最重要的里程碑——你已经成功运行了人生第一个Python程序！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526280"/>
            <a:ext cx="9753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64748B"/>
                </a:solidFill>
                <a:latin typeface="Noto Sans CJK SC"/>
              </a:rPr>
              <a:t>据统计，80%的初学者在成功运行第一个程序后，学习动力会显著提升。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tabase__2563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59E0B"/>
                </a:solidFill>
                <a:latin typeface="Noto Sans CJK S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变量与基本数据类型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Noto Sans CJK SC"/>
              </a:rPr>
              <a:t>变量就像一个贴了标签的盒子，用来存放数据。Python里不需要声明类型，直接赋值即可。常用数据类型有数字（int/float）、字符串（str）、布尔值（bool）。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数字：整数与小数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bas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整数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整数如1, 100, -10可直接书写，用于计数和索引。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tabas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浮点数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小数如3.14, 0.5, -2.0用于表示带小数的数值。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kflow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算术运算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支持加+、减-、乘*、除/、整除//、取余%，例如print(5+3)输出8。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字符串：文本数据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ghtbulb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0F172A"/>
                </a:solidFill>
                <a:latin typeface="Noto Sans CJK SC"/>
              </a:rPr>
              <a:t>定义字符串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用单引号或双引号包裹，如'你好'或"Python"，中间可包含空格和标点。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orkflow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拼接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使用+号连接字符串，例如'Hello'+' '+'World'得到'Hello World'。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kflow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重复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用*号重复字符串，如'Ha'*3结果为'HaHaHa'。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布尔值与类型检查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ghtbulb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布尔值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只有True和False两个值，用于条件判断。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it-compare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比较运算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==, !=, &lt;, &gt;, &lt;=, &gt;=返回布尔值，如3&gt;5结果为False。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ward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F172A"/>
                </a:solidFill>
                <a:latin typeface="Noto Sans CJK SC"/>
              </a:rPr>
              <a:t>type()函数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查看变量类型，例如type(3)返回&lt;class 'int'&gt;。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动手写：变量赋值与运算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400" y="2870073"/>
            <a:ext cx="7315200" cy="2057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26919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de__f59e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430" y="2666390"/>
            <a:ext cx="427939" cy="4279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Noto Sans CJK SC"/>
              </a:rPr>
              <a:t>定义变量: 创建变量age=18, price=9.9, name='Python'，直接赋值即可。</a:t>
            </a:r>
          </a:p>
        </p:txBody>
      </p:sp>
      <p:sp>
        <p:nvSpPr>
          <p:cNvPr id="7" name="Oval 6"/>
          <p:cNvSpPr/>
          <p:nvPr/>
        </p:nvSpPr>
        <p:spPr>
          <a:xfrm>
            <a:off x="5684519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de__f59e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030" y="2666390"/>
            <a:ext cx="427939" cy="4279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0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Noto Sans CJK SC"/>
              </a:rPr>
              <a:t>输出变量: 使用print(age)和print('价格：', price)在控制台显示结果。</a:t>
            </a:r>
          </a:p>
        </p:txBody>
      </p:sp>
      <p:sp>
        <p:nvSpPr>
          <p:cNvPr id="10" name="Oval 9"/>
          <p:cNvSpPr/>
          <p:nvPr/>
        </p:nvSpPr>
        <p:spPr>
          <a:xfrm>
            <a:off x="9342119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42119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  <a:latin typeface="Noto Sans CJK S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Noto Sans CJK SC"/>
              </a:rPr>
              <a:t>做计算: 计算total = price * 2并用print(total)输出，验证运算结果。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de__2563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59E0B"/>
                </a:solidFill>
                <a:latin typeface="Noto Sans CJK S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条件与循环：让代码会思考、会重复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64748B"/>
                </a:solidFill>
                <a:latin typeface="Noto Sans CJK SC"/>
              </a:rPr>
              <a:t>为什么程序能做出判断并自动执行重复任务？条件与循环就是核心机制。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if / elif / else：条件判断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68805"/>
            <a:ext cx="5120640" cy="394334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2896" y="2211705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d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140" y="2339949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50898" y="221170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基本语法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96" y="3000375"/>
            <a:ext cx="4437888" cy="2468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• if 条件后加冒号，下一行缩进写执行代码。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• else 对应条件不成立的情况，同样需要冒号和缩进。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• 多分支用 elif 连接，可检查多个条件。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840" y="1868805"/>
            <a:ext cx="5120640" cy="394334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81216" y="2211705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81216" y="2211705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>
                <a:solidFill>
                  <a:srgbClr val="FFFFFF"/>
                </a:solidFill>
                <a:latin typeface="Noto Sans CJK SC"/>
              </a:rPr>
              <a:t>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9218" y="221170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实际例子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1216" y="3000375"/>
            <a:ext cx="4437888" cy="2468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• score = 85；if score &gt;= 90: print('优秀') elif score &gt;= 60: print('及格') else: print('不及格')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• 注意缩进错误会导致程序崩溃，Python 强制要求一致缩进。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• 条件表达式支持比较运算符和逻辑运算符组合。</a:t>
            </a:r>
          </a:p>
        </p:txBody>
      </p:sp>
      <p:sp>
        <p:nvSpPr>
          <p:cNvPr id="13" name="Oval 12"/>
          <p:cNvSpPr/>
          <p:nvPr/>
        </p:nvSpPr>
        <p:spPr>
          <a:xfrm>
            <a:off x="5684520" y="342900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4520" y="34290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  <a:latin typeface="Noto Sans CJK SC"/>
              </a:rP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for 循环：遍历列表/范围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2870073"/>
            <a:ext cx="8229600" cy="2057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69720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69720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2499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Noto Sans CJK SC"/>
              </a:rPr>
              <a:t>遍历 range: for i in range(5): print(i) 会输出 0,1,2,3,4，共5次。</a:t>
            </a:r>
          </a:p>
        </p:txBody>
      </p:sp>
      <p:sp>
        <p:nvSpPr>
          <p:cNvPr id="7" name="Oval 6"/>
          <p:cNvSpPr/>
          <p:nvPr/>
        </p:nvSpPr>
        <p:spPr>
          <a:xfrm>
            <a:off x="4312920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2920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  <a:latin typeface="Noto Sans CJK S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429000"/>
            <a:ext cx="2499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Noto Sans CJK SC"/>
              </a:rPr>
              <a:t>遍历列表: for fruit in ['苹果', '香蕉', '橘子']: print(fruit) 依次输出每个水果。</a:t>
            </a:r>
          </a:p>
        </p:txBody>
      </p:sp>
      <p:sp>
        <p:nvSpPr>
          <p:cNvPr id="10" name="Oval 9"/>
          <p:cNvSpPr/>
          <p:nvPr/>
        </p:nvSpPr>
        <p:spPr>
          <a:xfrm>
            <a:off x="7056120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6120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  <a:latin typeface="Noto Sans CJK S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429000"/>
            <a:ext cx="2499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Noto Sans CJK SC"/>
              </a:rPr>
              <a:t>使用 range 参数: range(start, stop, step) 生成数字序列，如 range(1,10,2) 输出1,3,5,7,9。</a:t>
            </a:r>
          </a:p>
        </p:txBody>
      </p:sp>
      <p:sp>
        <p:nvSpPr>
          <p:cNvPr id="13" name="Oval 12"/>
          <p:cNvSpPr/>
          <p:nvPr/>
        </p:nvSpPr>
        <p:spPr>
          <a:xfrm>
            <a:off x="9799320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99320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  <a:latin typeface="Noto Sans CJK S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429000"/>
            <a:ext cx="2499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Noto Sans CJK SC"/>
              </a:rPr>
              <a:t>循环体缩进: for 循环内所有缩进的语句都会重复执行，缩进结束则退出循环。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22080" y="822960"/>
            <a:ext cx="5608320" cy="5608320"/>
          </a:xfrm>
          <a:prstGeom prst="ellipse">
            <a:avLst/>
          </a:prstGeom>
          <a:solidFill>
            <a:srgbClr val="F59E0B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de__f59e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10" y="1371600"/>
            <a:ext cx="617220" cy="617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331720"/>
            <a:ext cx="9753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F172A"/>
                </a:solidFill>
                <a:latin typeface="Noto Sans CJK SC"/>
              </a:rPr>
              <a:t>while 循环让代码在条件为真时不断重复，是构建游戏、交互程序的基础。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526280"/>
            <a:ext cx="9753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64748B"/>
                </a:solidFill>
                <a:latin typeface="Noto Sans CJK SC"/>
              </a:rPr>
              <a:t>示例：count = 0; while count &lt; 3: print(count); count += 1 会输出0,1,2，每次自增避免无限循环。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de__2563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59E0B"/>
                </a:solidFill>
                <a:latin typeface="Noto Sans CJK S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函数：把代码打包复用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64748B"/>
                </a:solidFill>
                <a:latin typeface="Noto Sans CJK SC"/>
              </a:rPr>
              <a:t>如何将一段代码命名并重复使用，减少重复、提升模块化？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定义与调用函数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ghtbulb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定义函数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Noto Sans CJK SC"/>
              </a:rPr>
              <a:t>使用 def 关键字定义，后跟函数名和参数列表，例如 def greet(name):。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6688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59296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ocket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540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2914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调用函数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9296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Noto Sans CJK SC"/>
              </a:rPr>
              <a:t>通过函数名加括号调用，如 greet('小明') 会执行函数体并输出 '你好, 小明'。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7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kflow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372" y="4407636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77746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参数灵活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函数可接受多个参数，也可没有参数；参数在函数内部作为变量使用。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6688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59296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ward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540" y="4407636"/>
            <a:ext cx="326440" cy="326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2914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代码复用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9296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定义一次函数，可在程序任意位置重复调用，避免复制粘贴相同代码。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带返回值的函数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rget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return 语句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使用 return 从函数返回一个值，函数执行到 return 立即结束。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6688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59296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orkflow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540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2914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返回值赋值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9296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调用带 return 的函数时，返回值可赋给变量，如 result = add(3,5)。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7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base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372" y="4407636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77746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示例：加法函数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Noto Sans CJK SC"/>
              </a:rPr>
              <a:t>def add(a, b): return a + b；调用 add(3,5) 得到 8，打印 result 输出 8。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6688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59296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ghtbulb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540" y="4407636"/>
            <a:ext cx="326440" cy="326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2914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无返回值默认 None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9296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函数没有 return 语句时，默认返回 None，表示没有值。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动手写：用函数改造之前代码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400" y="2870073"/>
            <a:ext cx="7315200" cy="2057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26919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de__f59e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430" y="2666390"/>
            <a:ext cx="427939" cy="4279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Noto Sans CJK SC"/>
              </a:rPr>
              <a:t>定义 get_grade 函数: 写一个函数接收 score 参数，根据分数返回等级字符串：优秀、及格或不及格。</a:t>
            </a:r>
          </a:p>
        </p:txBody>
      </p:sp>
      <p:sp>
        <p:nvSpPr>
          <p:cNvPr id="7" name="Oval 6"/>
          <p:cNvSpPr/>
          <p:nvPr/>
        </p:nvSpPr>
        <p:spPr>
          <a:xfrm>
            <a:off x="5684519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84519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  <a:latin typeface="Noto Sans CJK S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Noto Sans CJK SC"/>
              </a:rPr>
              <a:t>实现判断逻辑: 使用 if-elif-else 结构：score &gt;= 90 返回'优秀'，score &gt;= 60 返回'及格'，否则返回'不及格'。</a:t>
            </a:r>
          </a:p>
        </p:txBody>
      </p:sp>
      <p:sp>
        <p:nvSpPr>
          <p:cNvPr id="10" name="Oval 9"/>
          <p:cNvSpPr/>
          <p:nvPr/>
        </p:nvSpPr>
        <p:spPr>
          <a:xfrm>
            <a:off x="9342119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nd__f59e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630" y="2666390"/>
            <a:ext cx="427939" cy="4279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19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Noto Sans CJK SC"/>
              </a:rPr>
              <a:t>调用并输出结果: 调用 get_grade(85)，函数返回'优秀'，print 输出该结果。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tabase__2563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59E0B"/>
                </a:solidFill>
                <a:latin typeface="Noto Sans CJK S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列表与字典：管理多个数据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64748B"/>
                </a:solidFill>
                <a:latin typeface="Noto Sans CJK SC"/>
              </a:rPr>
              <a:t>学习两种最常用的容器类型，它们能帮你高效组织和管理多个数据。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列表：有序集合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bas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创建列表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Noto Sans CJK SC"/>
              </a:rPr>
              <a:t>用方括号括起逗号分隔的元素，如 fruits = ['苹果', '香蕉', '橘子']。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6688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59296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tabas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540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2914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访问元素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9296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通过索引从0开始获取，例如 fruits[0] 返回 '苹果'。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7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bas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4407636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77746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增删改操作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使用 append('葡萄') 添加末尾，remove('香蕉') 删除指定项。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6688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59296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atabas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540" y="4407636"/>
            <a:ext cx="326440" cy="326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2914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获取长度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9296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len(fruits) 返回元素个数，例如3个水果则返回3。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字典：键值对映射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bas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创建字典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Noto Sans CJK SC"/>
              </a:rPr>
              <a:t>用花括号包含键值对，如 student = {'name': '小明', 'age': 18, 'score': 95}。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6688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59296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tabas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540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2914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访问与修改值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9296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Noto Sans CJK SC"/>
              </a:rPr>
              <a:t>通过键访问，如 student['name'] 返回 '小明'；赋值即可修改，如 student['age'] = 19。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7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bas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4407636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77746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添加与删除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Noto Sans CJK SC"/>
              </a:rPr>
              <a:t>直接赋值新键添加，如 student['city'] = '北京'；del student['score'] 删除指定键。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6688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59296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atabas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540" y="4407636"/>
            <a:ext cx="326440" cy="326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2914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键的灵活性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9296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键通常是字符串，但也可以是数字或元组，必须唯一且不可变。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列表 vs 字典：如何选择？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554605"/>
            <a:ext cx="5120640" cy="257175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2896" y="2897505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96" y="2897505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>
                <a:solidFill>
                  <a:srgbClr val="FFFFFF"/>
                </a:solidFill>
                <a:latin typeface="Noto Sans CJK SC"/>
              </a:rPr>
              <a:t>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0898" y="289750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列表适用场景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96" y="3686175"/>
            <a:ext cx="443788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Noto Sans CJK SC"/>
              </a:rPr>
              <a:t>• 元素有顺序关系，比如排行榜、时间序列。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Noto Sans CJK SC"/>
              </a:rPr>
              <a:t>• 需要通过位置（索引）频繁访问元素。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Noto Sans CJK SC"/>
              </a:rPr>
              <a:t>• 需要保持插入顺序且允许重复值。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840" y="2554605"/>
            <a:ext cx="5120640" cy="257175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81216" y="2897505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81216" y="2897505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>
                <a:solidFill>
                  <a:srgbClr val="FFFFFF"/>
                </a:solidFill>
                <a:latin typeface="Noto Sans CJK SC"/>
              </a:rPr>
              <a:t>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9218" y="289750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字典适用场景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1216" y="3686175"/>
            <a:ext cx="443788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Noto Sans CJK SC"/>
              </a:rPr>
              <a:t>• 数据有唯一标识（键），如学生信息用学号查找。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Noto Sans CJK SC"/>
              </a:rPr>
              <a:t>• 需要快速根据键获取值，性能优于列表遍历。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Noto Sans CJK SC"/>
              </a:rPr>
              <a:t>• 键值对关系清晰，如配置参数、映射关系。</a:t>
            </a:r>
          </a:p>
        </p:txBody>
      </p:sp>
      <p:sp>
        <p:nvSpPr>
          <p:cNvPr id="13" name="Oval 12"/>
          <p:cNvSpPr/>
          <p:nvPr/>
        </p:nvSpPr>
        <p:spPr>
          <a:xfrm>
            <a:off x="5684520" y="342900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4520" y="34290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  <a:latin typeface="Noto Sans CJK SC"/>
              </a:rP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53500" y="3909060"/>
            <a:ext cx="4526280" cy="452628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2563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719" y="96012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743200"/>
            <a:ext cx="9753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Noto Sans CJK SC"/>
              </a:rPr>
              <a:t>下一步做什么？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3977639"/>
            <a:ext cx="9753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64748B"/>
                </a:solidFill>
                <a:latin typeface="Noto Sans CJK SC"/>
              </a:rPr>
              <a:t>建议练习：做一个简单的待办事项命令行程序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800600"/>
            <a:ext cx="975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9E0B"/>
                </a:solidFill>
                <a:latin typeface="Noto Sans CJK SC"/>
              </a:rPr>
              <a:t>今天就开始动手！编程是练出来的，多写代码。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