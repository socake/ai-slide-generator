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Sheet1!$A$2:$A$5</c:f>
              <c:strCache>
                <c:ptCount val="4"/>
                <c:pt idx="0">
                  <c:v>住宿（每晚）</c:v>
                </c:pt>
                <c:pt idx="1">
                  <c:v>餐饮（每日）</c:v>
                </c:pt>
                <c:pt idx="2">
                  <c:v>交通（两天）</c:v>
                </c:pt>
                <c:pt idx="3">
                  <c:v>门票与小费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1000.0</c:v>
                </c:pt>
                <c:pt idx="1">
                  <c:v>300.0</c:v>
                </c:pt>
                <c:pt idx="2">
                  <c:v>200.0</c:v>
                </c:pt>
                <c:pt idx="3">
                  <c:v>200.0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1C1917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5E0C8"/>
            </a:solidFill>
          </a:ln>
        </c:spPr>
        <c:txPr>
          <a:bodyPr/>
          <a:lstStyle/>
          <a:p>
            <a:pPr>
              <a:defRPr sz="1200">
                <a:solidFill>
                  <a:srgbClr val="1C1917"/>
                </a:solidFill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本章将带大家了解如何在京都以合理预算尽享美食，从预算分配到隐藏小店一网打尽。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强调这些细节能避免尴尬，让旅行更顺畅。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这些准备能应对大多数突发情况，让旅行更安心。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提醒游客随身携带护照，并注意退税办理时间。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53500" y="3909060"/>
            <a:ext cx="4526280" cy="4526280"/>
          </a:xfrm>
          <a:prstGeom prst="ellipse">
            <a:avLst/>
          </a:prstGeom>
          <a:solidFill>
            <a:srgbClr val="0D9488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0d94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19" y="96012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743200"/>
            <a:ext cx="9997440" cy="17830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5400" b="1">
                <a:solidFill>
                  <a:srgbClr val="1C1917"/>
                </a:solidFill>
                <a:latin typeface="Noto Sans CJK SC"/>
              </a:rPr>
              <a:t>周末两天玩遍京都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9200" y="2268626"/>
            <a:ext cx="146304" cy="2057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6192" y="2194560"/>
            <a:ext cx="94366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97316"/>
                </a:solidFill>
                <a:latin typeface="Noto Sans CJK SC"/>
              </a:rPr>
              <a:t>京都之美，两天也能深度体验。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4732020"/>
            <a:ext cx="9509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78716C"/>
                </a:solidFill>
                <a:latin typeface="Noto Sans CJK SC"/>
              </a:rPr>
              <a:t>预算人均3000元，经典+小众完美结合，第一次去日本也能轻松上手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行程总览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8881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280284"/>
            <a:ext cx="514350" cy="51435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2280284"/>
            <a:ext cx="51435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AF0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3550" y="198881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1917"/>
                </a:solidFill>
                <a:latin typeface="Noto Sans CJK SC"/>
              </a:rPr>
              <a:t>行前准备与交通策略：购买ICOCA卡，下载Google Maps和换乘案内App。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8881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10528" y="2280284"/>
            <a:ext cx="514350" cy="51435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p-pin__fffa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685" y="2393442"/>
            <a:ext cx="288036" cy="2880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19950" y="198881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1917"/>
                </a:solidFill>
                <a:latin typeface="Noto Sans CJK SC"/>
              </a:rPr>
              <a:t>第一天：经典路线（周六）：伏见稻荷大社、清水寺、二年坂三年坂、祇园。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23260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7" y="3514724"/>
            <a:ext cx="514350" cy="51435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lobe__fff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285" y="3627881"/>
            <a:ext cx="288036" cy="2880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33550" y="3223260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1917"/>
                </a:solidFill>
                <a:latin typeface="Noto Sans CJK SC"/>
              </a:rPr>
              <a:t>第二天：小众体验（周日）：岚山竹林、龙安寺枯山水、锦市场、先斗町。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23260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0528" y="3514724"/>
            <a:ext cx="514350" cy="51435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allet__fffa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685" y="3627881"/>
            <a:ext cx="288036" cy="2880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19950" y="3223260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1917"/>
                </a:solidFill>
                <a:latin typeface="Noto Sans CJK SC"/>
              </a:rPr>
              <a:t>美食推荐与预算控制：人均餐饮约300元/天，推荐抹茶甜品和怀石料理。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5769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7" y="4749164"/>
            <a:ext cx="514350" cy="51435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749164"/>
            <a:ext cx="51435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AF0"/>
                </a:solidFill>
                <a:latin typeface="Noto Sans CJK S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3550" y="445769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1917"/>
                </a:solidFill>
                <a:latin typeface="Noto Sans CJK SC"/>
              </a:rPr>
              <a:t>实用贴士与注意事项：寺庙关门早，注意着装礼仪，备好零钱。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行程总结：48小时京都精华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88819"/>
            <a:ext cx="10728960" cy="109728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280284"/>
            <a:ext cx="514350" cy="51435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p-pin__fffa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" y="2393442"/>
            <a:ext cx="288036" cy="288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3550" y="1988819"/>
            <a:ext cx="94343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1C1917"/>
                </a:solidFill>
                <a:latin typeface="Noto Sans CJK SC"/>
              </a:rPr>
              <a:t>周六遵循经典路线，高效打卡伏见稻荷千本鸟居和清水寺等标志性景点，用时紧凑。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23260"/>
            <a:ext cx="10728960" cy="109728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7" y="3514724"/>
            <a:ext cx="514350" cy="51435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3514724"/>
            <a:ext cx="51435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AF0"/>
                </a:solidFill>
                <a:latin typeface="Noto Sans CJK S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3550" y="3223260"/>
            <a:ext cx="94343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1C1917"/>
                </a:solidFill>
                <a:latin typeface="Noto Sans CJK SC"/>
              </a:rPr>
              <a:t>周日转向深度体验，在岚山竹林漫步、龙安寺静坐观石，感受京都的禅意与宁静。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57699"/>
            <a:ext cx="10728960" cy="109728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7" y="4749164"/>
            <a:ext cx="514350" cy="51435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allet__fff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285" y="4862321"/>
            <a:ext cx="288036" cy="2880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33550" y="4457699"/>
            <a:ext cx="94343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1C1917"/>
                </a:solidFill>
                <a:latin typeface="Noto Sans CJK SC"/>
              </a:rPr>
              <a:t>整体预算可控，包括交通、住宿、门票和餐饮，人均3000元即可享受丰富旅程。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0D9488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0d94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97316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行前准备与交通策略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78716C"/>
                </a:solidFill>
                <a:latin typeface="Noto Sans CJK SC"/>
              </a:rPr>
              <a:t>出发前必须办好的三件事：交通票、住宿、App，让你一下飞机就顺畅开玩。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必备行前事项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ap__fffa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提前购买交通卡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JR Pass或ICOCA卡在机场就能买，ICOCA充值后可直接坐地铁、巴士，省去排队买票时间。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rget__fff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预订京都塔附近酒店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步行5分钟到京都站，方便搭乘JR、近铁和巴士，推荐京都世纪酒店，约800元/晚。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pu__fffa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下载离线地图与翻译App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Google Maps提前下载京都离线区域，有道翻译官支持拍照翻译菜单，避免迷路与沟通尴尬。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交通卡对比：哪种最划算？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417445"/>
            <a:ext cx="5120640" cy="284607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2896" y="2760345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96" y="2760345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AF0"/>
                </a:solidFill>
                <a:latin typeface="Noto Sans CJK SC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0898" y="276034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C1917"/>
                </a:solidFill>
                <a:latin typeface="Noto Sans CJK SC"/>
              </a:rPr>
              <a:t>ICOCA卡（Suica类似）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96" y="3549014"/>
            <a:ext cx="4437888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C1917"/>
                </a:solidFill>
                <a:latin typeface="Noto Sans CJK SC"/>
              </a:rPr>
              <a:t>• 随用随充，余额可退，适合只坐几趟地铁或巴士的短途游。</a:t>
            </a:r>
          </a:p>
          <a:p>
            <a:pPr algn="l"/>
            <a:r>
              <a:rPr sz="1600" b="0">
                <a:solidFill>
                  <a:srgbClr val="1C1917"/>
                </a:solidFill>
                <a:latin typeface="Noto Sans CJK SC"/>
              </a:rPr>
              <a:t>• 京都地铁单程约210日元，一天坐3次以内不如巴士券划算。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840" y="2417445"/>
            <a:ext cx="5120640" cy="284607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81216" y="2760345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81216" y="2760345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FFFAF0"/>
                </a:solidFill>
                <a:latin typeface="Noto Sans CJK SC"/>
              </a:rPr>
              <a:t>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9218" y="276034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京都一日巴士券 &amp; JR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1216" y="3549014"/>
            <a:ext cx="4437888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Noto Sans CJK SC"/>
              </a:rPr>
              <a:t>• 一日巴士券600日元无限次，覆盖祇园、清水寺等经典景点，一天坐4次就回本。</a:t>
            </a:r>
          </a:p>
          <a:p>
            <a:pPr algn="l"/>
            <a:r>
              <a:rPr sz="1400" b="0">
                <a:solidFill>
                  <a:srgbClr val="1C1917"/>
                </a:solidFill>
                <a:latin typeface="Noto Sans CJK SC"/>
              </a:rPr>
              <a:t>• JR Pass（7天约29600日元）需跨城如去大阪、奈良才值得买，单玩京都别买。</a:t>
            </a:r>
          </a:p>
        </p:txBody>
      </p:sp>
      <p:sp>
        <p:nvSpPr>
          <p:cNvPr id="13" name="Oval 12"/>
          <p:cNvSpPr/>
          <p:nvPr/>
        </p:nvSpPr>
        <p:spPr>
          <a:xfrm>
            <a:off x="5684520" y="3429000"/>
            <a:ext cx="822960" cy="822960"/>
          </a:xfrm>
          <a:prstGeom prst="ellipse">
            <a:avLst/>
          </a:prstGeom>
          <a:solidFill>
            <a:srgbClr val="FEF3E2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4520" y="34290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97316"/>
                </a:solidFill>
                <a:latin typeface="Noto Sans CJK SC"/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住宿推荐：性价比之选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ock__fffa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祇园附近：方便夜游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步行至花见小路和八坂神社，夜晚感受和风氛围，推荐祇园赛莱斯廷酒店，约1200元/晚。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rget__fff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京都站周边：交通枢纽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直达机场巴士和所有景点，适合早出晚归的行程，如京都塔酒店标间约600元/晚。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ghtbulb__fffa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民宿体验：更地道的选择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在Airbnb预订町屋民宿，体验榻榻米和茶道，价格约500元/晚，需提前2周预订。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0D9488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p-pin__0d94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97316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第一天：经典路线（周六）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78716C"/>
                </a:solidFill>
                <a:latin typeface="Noto Sans CJK SC"/>
              </a:rPr>
              <a:t>如何在抵达当日下午高效串联京都三大地标？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22080" y="822960"/>
            <a:ext cx="5608320" cy="5608320"/>
          </a:xfrm>
          <a:prstGeom prst="ellipse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ock__f973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" y="1371600"/>
            <a:ext cx="617220" cy="617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331720"/>
            <a:ext cx="9753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C1917"/>
                </a:solidFill>
                <a:latin typeface="Noto Sans CJK SC"/>
              </a:rPr>
              <a:t>按时间顺序串联三个核心区域，能最大化利用下午到傍晚的黄金时段。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526280"/>
            <a:ext cx="975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78716C"/>
                </a:solidFill>
                <a:latin typeface="Noto Sans CJK SC"/>
              </a:rPr>
              <a:t>实测从伏见稻荷大社到清水寺地铁+公交仅需30分钟，步行衔接顺利。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伏见稻荷大社打卡指南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ock__fffa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最佳拍照时间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下午3点前阳光斜射千本鸟居，能拍出光影交错的纵深感，游客也相对较少。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rget__fff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1C1917"/>
                </a:solidFill>
                <a:latin typeface="Noto Sans CJK SC"/>
              </a:rPr>
              <a:t>登山策略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爬到半山腰的熊鹰社即可折返，全程约40分钟，节省体力给后续景点。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ghtbulb__fffa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1C1917"/>
                </a:solidFill>
                <a:latin typeface="Noto Sans CJK SC"/>
              </a:rPr>
              <a:t>必吃小食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参道旁「稻荷茶屋」的抹茶冰淇淋（300日元）和狐狸煎饼值得一试。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清水寺路线步行流程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400" y="2870073"/>
            <a:ext cx="7315200" cy="20574"/>
          </a:xfrm>
          <a:prstGeom prst="rect">
            <a:avLst/>
          </a:prstGeom>
          <a:solidFill>
            <a:srgbClr val="F5E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26919" y="2468880"/>
            <a:ext cx="822960" cy="822960"/>
          </a:xfrm>
          <a:prstGeom prst="ellipse">
            <a:avLst/>
          </a:prstGeom>
          <a:solidFill>
            <a:srgbClr val="FEF3E2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26919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97316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C1917"/>
                </a:solidFill>
                <a:latin typeface="Noto Sans CJK SC"/>
              </a:rPr>
              <a:t>从清水坂上山: 经过热闹的伴手礼商店街，约10分钟步行至仁王门，沿途可试吃八桥饼。</a:t>
            </a:r>
          </a:p>
        </p:txBody>
      </p:sp>
      <p:sp>
        <p:nvSpPr>
          <p:cNvPr id="7" name="Oval 6"/>
          <p:cNvSpPr/>
          <p:nvPr/>
        </p:nvSpPr>
        <p:spPr>
          <a:xfrm>
            <a:off x="5684519" y="2468880"/>
            <a:ext cx="822960" cy="822960"/>
          </a:xfrm>
          <a:prstGeom prst="ellipse">
            <a:avLst/>
          </a:prstGeom>
          <a:solidFill>
            <a:srgbClr val="FEF3E2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84519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97316"/>
                </a:solidFill>
                <a:latin typeface="Noto Sans CJK S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C1917"/>
                </a:solidFill>
                <a:latin typeface="Noto Sans CJK SC"/>
              </a:rPr>
              <a:t>参观本堂与舞台: 本堂悬空舞台是京都标志，可俯瞰市区；地主神社求恋爱运，排队约15分钟。</a:t>
            </a:r>
          </a:p>
        </p:txBody>
      </p:sp>
      <p:sp>
        <p:nvSpPr>
          <p:cNvPr id="10" name="Oval 9"/>
          <p:cNvSpPr/>
          <p:nvPr/>
        </p:nvSpPr>
        <p:spPr>
          <a:xfrm>
            <a:off x="9342119" y="2468880"/>
            <a:ext cx="822960" cy="822960"/>
          </a:xfrm>
          <a:prstGeom prst="ellipse">
            <a:avLst/>
          </a:prstGeom>
          <a:solidFill>
            <a:srgbClr val="FEF3E2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42119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97316"/>
                </a:solidFill>
                <a:latin typeface="Noto Sans CJK S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C1917"/>
                </a:solidFill>
                <a:latin typeface="Noto Sans CJK SC"/>
              </a:rPr>
              <a:t>下山至祇园: 沿三年坂、二年坂石板路下行，两侧传统建筑与特产店，步行20分钟即达祇园。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祇园与花见小路夜游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ock__fffa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偶遇艺伎时机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傍晚5点半至7点艺伎从茶屋前往宴席，花见小路南段相遇概率最高。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ghtbulb__fff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1C1917"/>
                </a:solidFill>
                <a:latin typeface="Noto Sans CJK SC"/>
              </a:rPr>
              <a:t>晚餐推荐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花见小路「十二段家」的寿喜锅套餐约4000日元，需提前一天预约。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ocket__fffa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1C1917"/>
                </a:solidFill>
                <a:latin typeface="Noto Sans CJK SC"/>
              </a:rPr>
              <a:t>夜游彩蛋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八坂神社夜间灯笼点亮至21点，免费入场，可顺路欣赏西楼门夜景。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0D9488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0d94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97316"/>
                </a:solidFill>
                <a:latin typeface="Noto Sans CJK S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第二天：小众体验与深度游（周日）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78716C"/>
                </a:solidFill>
                <a:latin typeface="Noto Sans CJK SC"/>
              </a:rPr>
              <a:t>避开人潮，探索岚山、金阁寺的宁静之美，下午体验和果子制作或茶道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22080" y="822960"/>
            <a:ext cx="5608320" cy="5608320"/>
          </a:xfrm>
          <a:prstGeom prst="ellipse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f973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" y="1371600"/>
            <a:ext cx="617220" cy="617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331720"/>
            <a:ext cx="9753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C1917"/>
                </a:solidFill>
                <a:latin typeface="Noto Sans CJK SC"/>
              </a:rPr>
              <a:t>周日的岚山和金阁寺在清晨人少时，能让你真正感受千年古都的禅意。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526280"/>
            <a:ext cx="975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78716C"/>
                </a:solidFill>
                <a:latin typeface="Noto Sans CJK SC"/>
              </a:rPr>
              <a:t>岚山竹林清晨7点游客不足百人，而午后可达数千人。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岚山竹林与天龙寺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ock__fffa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早晨7点前往可避开人群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此时竹林内几乎没有其他游客，能独享风吹竹叶的沙沙声，拍照也无需排队等待。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ward__fff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天龙寺庭院值得慢慢逛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曹源池庭园借景岚山，是梦窗疏石设计的国宝级枯山水，绕行一圈约需40分钟。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4352" y="2125980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AF0"/>
                </a:solidFill>
                <a:latin typeface="Noto Sans CJK S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乘坐小火车至龟冈站返回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嵯峨野观光小火车单程约25分钟，保津峡风光绝佳，龟冈站下车后可乘JR回到岚山。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金阁寺：一睹金箔建筑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ins__fffa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门票400日元，性价比高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作为世界文化遗产，门票仅400日元，折合人民币约20元，远低于国内同类景点。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ock__fff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30分钟可游览完毕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金阁寺景区不大，入口到出口单向游览，慢走加上拍照通常半小时足够。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ghtbulb__fffa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镜湖池倒影是经典机位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在镜湖池边拍摄金阁与倒影的对称照，是每个游客的必打卡角度，建议上午光线柔和时拍。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小众体验：和果子制作教室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orkflow__fffa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1917"/>
                </a:solidFill>
                <a:latin typeface="Noto Sans CJK SC"/>
              </a:rPr>
              <a:t>需提前预约，费用约3000日元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大多教室可通过官网或电话预约，费用含材料费，约3000日元（约150元人民币）。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ghtbulb__fff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90分钟课程，可带走作品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从揉面到塑形全程指导，每人可制作2-3个和果子，用精美盒子打包带走。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p-pin__fffa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位于祇园附近，方便前往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教室集中在祇园、东山一带，距离八坂神社步行10分钟，适合作为下午活动。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0D9488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allet__0d94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97316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美食推荐与预算控制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78716C"/>
                </a:solidFill>
                <a:latin typeface="Noto Sans CJK SC"/>
              </a:rPr>
              <a:t>人均3000预算如何分配，解锁必吃美食与省钱技巧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预算分配表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829300"/>
            <a:ext cx="1072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8716C"/>
                </a:solidFill>
                <a:latin typeface="Noto Sans CJK SC"/>
              </a:rPr>
              <a:t>总预算约2400元，预留600元机动，人均3000元足够覆盖精华体验。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57400"/>
          <a:ext cx="1072896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京都必吃美食清单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ward__fffa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1C1917"/>
                </a:solidFill>
                <a:latin typeface="Noto Sans CJK SC"/>
              </a:rPr>
              <a:t>抹茶甜品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中村藤吉本店的抹茶芭菲（约1200日元），口感浓郁，是京都抹茶代表。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ins__fff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C1917"/>
                </a:solidFill>
                <a:latin typeface="Noto Sans CJK SC"/>
              </a:rPr>
              <a:t>京料理怀石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午间套餐（约3000日元）比晚市便宜一半，需提前一天预订才能省预算。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ghtbulb__fffa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1C1917"/>
                </a:solidFill>
                <a:latin typeface="Noto Sans CJK SC"/>
              </a:rPr>
              <a:t>拉面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一兰拉面（约890日元）或当地小店如新福菜馆，用500日元就能吃饱。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省钱技巧与隐藏小店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ins__fffa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便利店解决早餐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7-11或全家饭团+咖啡约300日元，比餐厅节省50%以上。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ghtbulb__fff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寺庙周边平价食堂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清水寺附近的「奥丹」汤豆腐套餐（1500日元）比景区外便宜30%。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lock__fffa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晚上8点后超市打折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Life超市便当、寿司半价起，花500日元就能享受豪华晚餐。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0D9488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0d94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97316"/>
                </a:solidFill>
                <a:latin typeface="Noto Sans CJK S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实用贴士与注意事项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78716C"/>
                </a:solidFill>
                <a:latin typeface="Noto Sans CJK SC"/>
              </a:rPr>
              <a:t>如何像本地人一样玩转京都？这章涵盖文化礼仪、安全应急和购物退税，助你无忧旅行。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日本文化礼仪须知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ghtbulb__fffa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1C1917"/>
                </a:solidFill>
                <a:latin typeface="Noto Sans CJK SC"/>
              </a:rPr>
              <a:t>寺庙脱鞋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进入寺庙和传统茶室前，请在玄关处脱鞋，并整齐摆放在指定区域，避免穿着鞋踩踏榻榻米。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iangle-alert__fff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禁止边走边吃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在商店街或寺庙内，请勿边走边吃食物，建议在店铺附近站定吃完或带回酒店享用，以示尊重。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ghtbulb__fffa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C1917"/>
                </a:solidFill>
                <a:latin typeface="Noto Sans CJK SC"/>
              </a:rPr>
              <a:t>关闭闪光灯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在寺庙、神社及美术馆内拍照时务必关闭闪光灯，部分区域禁止拍摄，请留意指示牌。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安全与应急信息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ield__fffa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保存大使馆电话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78716C"/>
                </a:solidFill>
                <a:latin typeface="Noto Sans CJK SC"/>
              </a:rPr>
              <a:t>出行前请将中国驻日本大使馆（03-3403-3064）及当地紧急电话（110/119）存入手机，并告知家人行程。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iangle-alert__fff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购买旅行保险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建议购买涵盖医疗、行李丢失和行程延误的旅行保险，部分保险还包含紧急救援服务，费用约200元起。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__fffa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下载离线地图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日本部分区域网络信号弱，提前下载Google Maps或MAPS.ME离线地图，并用日语标注酒店和景点。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C1917"/>
                </a:solidFill>
                <a:latin typeface="Noto Sans CJK SC"/>
              </a:rPr>
              <a:t>购物与退税指南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ins__fffa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1917"/>
                </a:solidFill>
                <a:latin typeface="Noto Sans CJK SC"/>
              </a:rPr>
              <a:t>满额即可退税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在同一店铺消费满5000日元（约240元人民币）即可享受10%消费税退税，需出示护照并填写退税单。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ghtbulb__fff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1C1917"/>
                </a:solidFill>
                <a:latin typeface="Noto Sans CJK SC"/>
              </a:rPr>
              <a:t>必买推荐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抹茶制品（如伊藤久右卫门抹茶粉）、京友禅手工制品、清水烧陶瓷都是极具京都特色的伴手礼。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F5E0C8"/>
            </a:solidFill>
          </a:ln>
          <a:effectLst>
            <a:outerShdw blurRad="90000" dist="30000" dir="5400000" rotWithShape="0">
              <a:srgbClr val="1c191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lock__fffa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C1917"/>
                </a:solidFill>
                <a:latin typeface="Noto Sans CJK SC"/>
              </a:rPr>
              <a:t>一站式购物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8716C"/>
                </a:solidFill>
                <a:latin typeface="Noto Sans CJK SC"/>
              </a:rPr>
              <a:t>京都站伊势丹百货汇集各大品牌和特产，B1层美食街可试吃，退税柜台在中层，非常方便。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78716C"/>
                </a:solidFill>
                <a:latin typeface="Noto Sans CJK SC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53500" y="3909060"/>
            <a:ext cx="4526280" cy="4526280"/>
          </a:xfrm>
          <a:prstGeom prst="ellipse">
            <a:avLst/>
          </a:prstGeom>
          <a:solidFill>
            <a:srgbClr val="0D9488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0d94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19" y="96012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743200"/>
            <a:ext cx="9753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1C1917"/>
                </a:solidFill>
                <a:latin typeface="Noto Sans CJK SC"/>
              </a:rPr>
              <a:t>祝你旅途愉快！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3977639"/>
            <a:ext cx="975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78716C"/>
                </a:solidFill>
                <a:latin typeface="Noto Sans CJK SC"/>
              </a:rPr>
              <a:t>出发前准备充分，旅途更顺畅。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800600"/>
            <a:ext cx="975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97316"/>
                </a:solidFill>
                <a:latin typeface="Noto Sans CJK SC"/>
              </a:rPr>
              <a:t>提前兑换日元，出发前再次确认交通，享受京都的每一个瞬间。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