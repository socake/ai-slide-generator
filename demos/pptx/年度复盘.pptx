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3F6B52"/>
            </a:solidFill>
          </c:spPr>
          <c:cat>
            <c:strRef>
              <c:f>Sheet1!$A$2:$A$4</c:f>
              <c:strCache>
                <c:ptCount val="3"/>
                <c:pt idx="0">
                  <c:v>完成项目</c:v>
                </c:pt>
                <c:pt idx="1">
                  <c:v>新学软件</c:v>
                </c:pt>
                <c:pt idx="2">
                  <c:v>加班天数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3.0</c:v>
                </c:pt>
                <c:pt idx="2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B201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8C2"/>
            </a:solidFill>
          </a:ln>
        </c:spPr>
        <c:txPr>
          <a:bodyPr/>
          <a:lstStyle/>
          <a:p>
            <a:pPr>
              <a:defRPr sz="1200">
                <a:solidFill>
                  <a:srgbClr val="2B2018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3F6B52"/>
            </a:solidFill>
          </c:spPr>
          <c:cat>
            <c:strRef>
              <c:f>Sheet1!$A$2:$A$4</c:f>
              <c:strCache>
                <c:ptCount val="3"/>
                <c:pt idx="0">
                  <c:v>运动次数</c:v>
                </c:pt>
                <c:pt idx="1">
                  <c:v>体检指标</c:v>
                </c:pt>
                <c:pt idx="2">
                  <c:v>平均睡眠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7.0</c:v>
                </c:pt>
                <c:pt idx="2">
                  <c:v>6.5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B201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8C2"/>
            </a:solidFill>
          </a:ln>
        </c:spPr>
        <c:txPr>
          <a:bodyPr/>
          <a:lstStyle/>
          <a:p>
            <a:pPr>
              <a:defRPr sz="1200">
                <a:solidFill>
                  <a:srgbClr val="2B2018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3F6B52"/>
            </a:solidFill>
          </c:spPr>
          <c:cat>
            <c:strRef>
              <c:f>Sheet1!$A$2:$A$4</c:f>
              <c:strCache>
                <c:ptCount val="3"/>
                <c:pt idx="0">
                  <c:v>新朋友</c:v>
                </c:pt>
                <c:pt idx="1">
                  <c:v>影视剧集</c:v>
                </c:pt>
                <c:pt idx="2">
                  <c:v>旅行天数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40.0</c:v>
                </c:pt>
                <c:pt idx="2">
                  <c:v>15.0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B201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8C2"/>
            </a:solidFill>
          </a:ln>
        </c:spPr>
        <c:txPr>
          <a:bodyPr/>
          <a:lstStyle/>
          <a:p>
            <a:pPr>
              <a:defRPr sz="1200">
                <a:solidFill>
                  <a:srgbClr val="2B2018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开场白：翻相册时发现这一年做了好多事，有激动也有遗憾，但都是成长。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今晚的五个部分，从成就到教训，再到未来计划。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总结2025，感恩所有经历，带着教训和成长走向2026。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回顾2025，聚焦那些最闪光的时刻。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工作的成长离不开主动学习。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技能投资是最划算的自我增值。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旅行让我走出舒适圈，收获勇气。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希望2026年继续保持主动的姿态。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感谢大家听我复盘，期待明年一起进步。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997440" cy="17830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5400" b="1">
                <a:solidFill>
                  <a:srgbClr val="2B2018"/>
                </a:solidFill>
                <a:latin typeface="Noto Sans CJK SC"/>
              </a:rPr>
              <a:t>2025 我的年度复盘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268626"/>
            <a:ext cx="146304" cy="205740"/>
          </a:xfrm>
          <a:prstGeom prst="rect">
            <a:avLst/>
          </a:prstGeom>
          <a:solidFill>
            <a:srgbClr val="3F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2194560"/>
            <a:ext cx="9436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F6B52"/>
                </a:solidFill>
                <a:latin typeface="Noto Sans CJK SC"/>
              </a:rPr>
              <a:t>Year in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732020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这一年，我做了几件大事，踩了几个坑，也学到了很多。明年，我想试试新方向。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今天晚上聊什么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年度高光：我的几件大事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0528" y="228028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99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踩过的坑：那些教训与成长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51472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35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我的变化：生活与心态的迭代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51472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tabase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685" y="3627881"/>
            <a:ext cx="288036" cy="288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199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数据回顾：这一年的数字记录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mpass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4862321"/>
            <a:ext cx="288036" cy="288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35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2026 方向：我想尝试的新赛道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总结：2025，谢谢你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107289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1988819"/>
            <a:ext cx="94343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高光与低谷都是礼物，每一次经历都塑造了现在的我。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23260"/>
            <a:ext cx="107289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pass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3627881"/>
            <a:ext cx="288036" cy="288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3550" y="3223260"/>
            <a:ext cx="94343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每个教训都让我更聪明，比如那次项目延期让我学会了提前规划。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57699"/>
            <a:ext cx="10728960" cy="109728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474916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3550" y="4457699"/>
            <a:ext cx="94343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每一份努力都算数，慢一点也没关系，重要的是持续前进。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3F6B52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01 年度高光：我的几件大事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今年哪几件事让我最有成就感？这些经历如何改变了我？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工作上的新突破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cket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主导项目提前交付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作为负责人从策划到上线仅用4个月，比计划提前2周，得到客户好评。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ending-up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获得年度最佳员工提名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全公司只有5人入围，我凭借跨部门协作贡献脱颖而出。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zap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学习AI工具提升效率30%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将ChatGPT和Midjourney融入日常，报告撰写时间缩短一半。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个人技能大升级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rget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考取PMP证书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经过3个月系统备考，一次性通过认证，项目管理能力获国际认可。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Python写出第一个小工具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自动化处理Excel数据，帮部门每月节省10小时手工操作。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ing-up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英语打卡200天看懂生肉剧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每天15分钟听力练习，现已能无字幕观看《老友记》全季。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旅行与探索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大理环洱海骑行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用两天时间骑行120公里，沿途邂逅古城、田野和日落，彻底放空。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rs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一个人背包去泰国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在曼谷青旅结交了3位外国朋友，一同逛夜市、学做泰菜。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iangle-alert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解锁潜水技能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在涛岛考取OW潜水证，下潜18米看到珊瑚和鱼群，打开了新世界。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3F6B5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3f6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B2018"/>
                </a:solidFill>
                <a:latin typeface="Noto Sans CJK SC"/>
              </a:rPr>
              <a:t>很多机会都是自己争取来的，尝试新事物才会有惊喜，别等万事俱备，先行动再完善。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统计2025年我主动申请的5件事，件件都带来了意想不到的回报，成功率100%。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3F6B52"/>
                </a:solidFill>
                <a:latin typeface="Noto Sans CJK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踩过的坑：那些教训与成长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今年有哪些失误？从中学到了什么经验？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时间管理的溃败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B2018"/>
                </a:solidFill>
                <a:latin typeface="Noto Sans CJK SC"/>
              </a:rPr>
              <a:t>同时接两个兼职，两边都垮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两头赶工导致交付质量下降，客户不满，最终两个项目都提前终止。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ap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熬夜赶工，效率低下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连续三周每天只睡5小时，产出反而比正常工作时少30%。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arget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教训：专注是效率的基石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单一任务时的完成速度比多任务并行快50%，且错误率降低70%。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一次冲动的投资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跟风买入，亏损20%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仅凭某大V推荐就投入3万元，两周内缩水至2.4万。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信息不足，盲目决策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未查看公司财报和行业动态，只看了KOL的片面分析。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教训：独立研究胜过大佬推荐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严格执行投资清单：至少阅读3份财报、1份行业报告后再决策。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忽视健康的代价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ins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B2018"/>
                </a:solidFill>
                <a:latin typeface="Noto Sans CJK SC"/>
              </a:rPr>
              <a:t>连续3个月不运动，体重涨5kg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从67kg升到72kg，体脂率从18%飙升到24%。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颈椎问题找上门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体检显示颈椎曲度变直，每周需理疗两次，已花费2000元。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ing-up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教训：健康是1，其他是0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每天30分钟运动，午间10分钟拉伸，颈椎症状已缓解80%。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3F6B5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__3f6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B2018"/>
                </a:solidFill>
                <a:latin typeface="Noto Sans CJK SC"/>
              </a:rPr>
              <a:t>追求数量反而离目标更远，慢下来专注质量才是最快的路径。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过去半年，坚持“每日三件事”而非十件事，完成率从40%提升至85%。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3F6B52"/>
                </a:solidFill>
                <a:latin typeface="Noto Sans CJK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我的变化：生活与心态的迭代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这一年我有哪些内在变化？这些变化如何影响日常生活？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年初 vs 年末：我的心态对比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17445"/>
            <a:ext cx="5120640" cy="284607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760345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276034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BF6EE"/>
                </a:solidFill>
                <a:latin typeface="Noto Sans CJK SC"/>
              </a:rPr>
              <a:t>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276034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年初状态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549014"/>
            <a:ext cx="443788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B2018"/>
                </a:solidFill>
                <a:latin typeface="Noto Sans CJK SC"/>
              </a:rPr>
              <a:t>• 经常为未来焦虑，晚上失眠，担心工作没做好</a:t>
            </a:r>
          </a:p>
          <a:p>
            <a:pPr algn="l"/>
            <a:r>
              <a:rPr sz="1400" b="0">
                <a:solidFill>
                  <a:srgbClr val="2B2018"/>
                </a:solidFill>
                <a:latin typeface="Noto Sans CJK SC"/>
              </a:rPr>
              <a:t>• 讨好型社交，参加不喜欢的饭局，怕得罪人</a:t>
            </a:r>
          </a:p>
          <a:p>
            <a:pPr algn="l"/>
            <a:r>
              <a:rPr sz="1400" b="0">
                <a:solidFill>
                  <a:srgbClr val="2B2018"/>
                </a:solidFill>
                <a:latin typeface="Noto Sans CJK SC"/>
              </a:rPr>
              <a:t>• 目标模糊，知道要努力但不知道具体做什么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417445"/>
            <a:ext cx="5120640" cy="284607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760345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76034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BF6EE"/>
                </a:solidFill>
                <a:latin typeface="Noto Sans CJK SC"/>
              </a:rPr>
              <a:t>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76034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年末状态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549014"/>
            <a:ext cx="443788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B2018"/>
                </a:solidFill>
                <a:latin typeface="Noto Sans CJK SC"/>
              </a:rPr>
              <a:t>• 平静接受不确定性，专注当下能控制的事情</a:t>
            </a:r>
          </a:p>
          <a:p>
            <a:pPr algn="l"/>
            <a:r>
              <a:rPr sz="1400" b="0">
                <a:solidFill>
                  <a:srgbClr val="2B2018"/>
                </a:solidFill>
                <a:latin typeface="Noto Sans CJK SC"/>
              </a:rPr>
              <a:t>• 主动筛选圈子，只和正能量的人深交，断了3个消耗型关系</a:t>
            </a:r>
          </a:p>
          <a:p>
            <a:pPr algn="l"/>
            <a:r>
              <a:rPr sz="1400" b="0">
                <a:solidFill>
                  <a:srgbClr val="2B2018"/>
                </a:solidFill>
                <a:latin typeface="Noto Sans CJK SC"/>
              </a:rPr>
              <a:t>• 制定年度OKR，拆解成季度目标，每天有清晰任务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3EAD9"/>
          </a:solidFill>
          <a:ln w="15875">
            <a:solidFill>
              <a:srgbClr val="3F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3F6B52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生活的微习惯清单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125980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B2018"/>
                </a:solidFill>
                <a:latin typeface="Noto Sans CJK SC"/>
              </a:rPr>
              <a:t>晨起一杯水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每天起床后先喝一杯温水，坚持200天，肠胃改善明显，不再便秘。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4240" y="2125980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感恩日记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睡前写3件感恩的事，小到今天阳光很好，心态从抱怨转向知足。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4352" y="2125980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断网散步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每周一次不带手机去公园走30分钟，发现以前忽略的鸟叫和花开。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阅读与输入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30本书单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今年读了30本书，最爱《原子习惯》，并用其中方法建立了早起习惯。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4240" y="2125980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BF6EE"/>
                </a:solidFill>
                <a:latin typeface="Noto Sans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通勤学习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订阅5个优质播客（如《忽左忽右》），每天通勤1小时变成学习时间。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ttings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读书笔记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开始写读书笔记，哪怕只写一句话，累计30篇，加深了理解。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3F6B5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3f6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2B2018"/>
                </a:solidFill>
                <a:latin typeface="Noto Sans CJK SC"/>
              </a:rPr>
              <a:t>少即是多：割舍90%的无用，才能聚焦10%的真正重要。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断舍离后，房间物品减少40%，每天找东西时间从15分钟降到3分钟。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base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3F6B52"/>
                </a:solidFill>
                <a:latin typeface="Noto Sans CJK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04 数据回顾：这一年的数字记录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用数据量化我的2025，看看哪些数字让我惊喜或反思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工作与学习数据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9300"/>
            <a:ext cx="1072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A6A58"/>
                </a:solidFill>
                <a:latin typeface="Noto Sans CJK SC"/>
              </a:rPr>
              <a:t>项目完成数创近三年新高，加班却减少了，说明工作方法有改进。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10728959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生活与健康数据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9300"/>
            <a:ext cx="1072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A6A58"/>
                </a:solidFill>
                <a:latin typeface="Noto Sans CJK SC"/>
              </a:rPr>
              <a:t>运动习惯已养成，但睡眠仍需优化，2026重点改善。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10728959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社交与娱乐数据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9300"/>
            <a:ext cx="1072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A6A58"/>
                </a:solidFill>
                <a:latin typeface="Noto Sans CJK SC"/>
              </a:rPr>
              <a:t>社交圈扩大，旅行见闻丰富，2026想挑战更多目的地。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10728959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我的年度榜单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最佳书籍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《原子习惯》让我明白了微小的改变如何带来巨大复利，推荐给所有想提升自我的人。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最佳电影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《心灵奇旅》用温暖的故事提醒我珍惜当下的火花，而不是一味追求目标。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B2018"/>
                </a:solidFill>
                <a:latin typeface="Noto Sans CJK SC"/>
              </a:rPr>
              <a:t>最佳播客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《得意忘形》每期都充满启发，尤其关于如何面对不确定性的讨论让我豁然开朗。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ass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3F6B52"/>
                </a:solidFill>
                <a:latin typeface="Noto Sans CJK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2026 方向：我想尝试的新赛道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明年我有哪些新想法？准备如何迈出第一步？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职业新尝试：自由职业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接咨询单试水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利用周末接3-5个咨询单，积累案例和口碑，了解市场需求。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cket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建立个人网站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用WordPress搭建作品集网站，展示过往项目与客户评价。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ins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副业覆盖开销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目标每月副业收入达到5000元，覆盖房租和日常饮食。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运动新目标：完成半马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每周3次5公里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周一、三、五下班后跑步，配速从7分逐步提升到6分。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报名3月马拉松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选择当地小型半马，报名费约150元，提前2个月备赛。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加入跑团互督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在Keep上加入城市跑团，每周六集体LSD训练。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018"/>
                </a:solidFill>
                <a:latin typeface="Noto Sans CJK SC"/>
              </a:rPr>
              <a:t>学习新计划：学会视频剪辑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up__fbf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每天学半小时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跟着B站「影视飓风」教程，从Pr基础操作学起。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ard__fbf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每月产出一条vlog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记录生活或学习过程，发布到小红书积累作品。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3EAD9"/>
          </a:solidFill>
          <a:ln w="9525">
            <a:solidFill>
              <a:srgbClr val="E7D8C2"/>
            </a:solidFill>
          </a:ln>
          <a:effectLst>
            <a:outerShdw blurRad="90000" dist="30000" dir="5400000" rotWithShape="0">
              <a:srgbClr val="2b201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bf6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B2018"/>
                </a:solidFill>
                <a:latin typeface="Noto Sans CJK SC"/>
              </a:rPr>
              <a:t>年底接简单商单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A6A58"/>
                </a:solidFill>
                <a:latin typeface="Noto Sans CJK SC"/>
              </a:rPr>
              <a:t>目标单价300-500元，剪辑5分钟内短视频。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3F6B5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rcle-check__3f6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2B2018"/>
                </a:solidFill>
                <a:latin typeface="Noto Sans CJK SC"/>
              </a:rPr>
              <a:t>不追求完美，先完成再完美。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A6A58"/>
                </a:solidFill>
                <a:latin typeface="Noto Sans CJK SC"/>
              </a:rPr>
              <a:t>每天进步1%，一年后能力提升37.8倍（1.01^365 ≈ 37.8）。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A6A58"/>
                </a:solidFill>
                <a:latin typeface="Noto Sans CJK S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9A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9A6A4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9a6a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75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2B2018"/>
                </a:solidFill>
                <a:latin typeface="Noto Sans CJK SC"/>
              </a:rPr>
              <a:t>2026，一起加油！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977639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7A6A58"/>
                </a:solidFill>
                <a:latin typeface="Noto Sans CJK SC"/>
              </a:rPr>
              <a:t>新的一年，继续互相鼓励，分享成长。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800600"/>
            <a:ext cx="975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6B52"/>
                </a:solidFill>
                <a:latin typeface="Noto Sans CJK SC"/>
              </a:rPr>
              <a:t>如果你也有年度日记，欢迎分享交流；明年今天，再来看复盘对比！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