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开场欢迎，介绍今天的主题和目标。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快速浏览议程，让听众知道将学到的内容。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回顾关键要点，强调实践的重要性。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烘焙度是影响咖啡风味的最关键因素之一，通过控制烘焙时间与温度，咖啡豆内部发生复杂的化学反应，从而产生不同的酸度、苦度和甜度表现。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中烘焙是中间的平衡点：酸度⭐⭐、苦度⭐⭐、甜度⭐⭐⭐。新手建议从浅到深依次尝试，找到自己最偏好的风味方向。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接下来我们进入核心内容，了解产地和处理法如何塑造咖啡风味。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全球咖啡产区主要分布在三大区域，每个产区都有典型风味特征。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处理法是影响咖啡风味的第二大因素，决定了干净度、甜度和复杂度。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通过对比可以直观感受不同处理法的风味差异。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实际购买时，产地和处理法组合决定了最终风味，这里给出几个典型例子。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鼓励听众立即行动，提供具体步骤和方向。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5.png"/><Relationship Id="rId6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7.png"/><Relationship Id="rId4" Type="http://schemas.openxmlformats.org/officeDocument/2006/relationships/image" Target="../media/image6.png"/><Relationship Id="rId5" Type="http://schemas.openxmlformats.org/officeDocument/2006/relationships/image" Target="../media/image1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ean_bl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53500" y="3909060"/>
            <a:ext cx="4526280" cy="452628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parkles__2563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719" y="96012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4416" y="3429000"/>
            <a:ext cx="8797747" cy="8915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Noto Sans CJK SC"/>
              </a:rPr>
              <a:t>如何挑选一款适合自己的咖啡豆</a:t>
            </a:r>
          </a:p>
        </p:txBody>
      </p:sp>
      <p:sp>
        <p:nvSpPr>
          <p:cNvPr id="8" name="Rectangle 7"/>
          <p:cNvSpPr/>
          <p:nvPr/>
        </p:nvSpPr>
        <p:spPr>
          <a:xfrm>
            <a:off x="1804416" y="3191713"/>
            <a:ext cx="146304" cy="10287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1408" y="3154679"/>
            <a:ext cx="8266176" cy="205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Noto Sans CJK SC"/>
              </a:rPr>
              <a:t>告别盲买，开启有谱的选豆之旅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04416" y="4423410"/>
            <a:ext cx="8368588" cy="342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64748B"/>
                </a:solidFill>
                <a:latin typeface="Noto Sans CJK SC"/>
              </a:rPr>
              <a:t>从新手到入门，只需掌握四个核心维度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今天的内容安排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8881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28028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228028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3550" y="198881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咖啡豆基础：种类、新鲜度与保存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8881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10528" y="228028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0528" y="228028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9950" y="198881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烘焙度：从浅烘到深烘的风味演变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23260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7" y="351472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7" y="351472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Noto Sans CJK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3550" y="3223260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产地与处理法：不同地域的特色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223260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10528" y="351472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351472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19950" y="3223260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风味描述与包装标签：教你读懂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45769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4127" y="474916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7" y="474916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Noto Sans CJK S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3550" y="445769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选豆决策框架：三步找到你的豆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457699"/>
            <a:ext cx="5242560" cy="10972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510528" y="4749164"/>
            <a:ext cx="514350" cy="51435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4749164"/>
            <a:ext cx="514350" cy="5143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Noto Sans CJK SC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950" y="4457699"/>
            <a:ext cx="3947921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总结与Q&amp;A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 / 29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总结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96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1885950"/>
            <a:ext cx="480060" cy="4800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7" y="1885950"/>
            <a:ext cx="4800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9260" y="1645920"/>
            <a:ext cx="9468611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选豆四维度：烘焙度、产地、处理法、风味描述是核心决策依据。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72896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4127" y="2983230"/>
            <a:ext cx="480060" cy="4800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7" y="2983230"/>
            <a:ext cx="4800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Noto Sans CJK S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9260" y="2743200"/>
            <a:ext cx="9468611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新鲜度优先于一切，整豆比预磨粉更能保留香气至少一个月。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72896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7" y="4080510"/>
            <a:ext cx="480060" cy="4800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ircle-check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741" y="4186123"/>
            <a:ext cx="268833" cy="26883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699260" y="3840480"/>
            <a:ext cx="9468611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利用“三步走”决策框架——确定烘焙偏好、选择产地风味、对照标签验证。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937760"/>
            <a:ext cx="10728960" cy="960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24127" y="5177790"/>
            <a:ext cx="480060" cy="4800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7" y="5177790"/>
            <a:ext cx="480060" cy="4800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Noto Sans CJK S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9260" y="4937760"/>
            <a:ext cx="9468611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多尝试不同产区与处理法的咖啡，并记录感官笔记，逐步建立个人咖啡审美库。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3 / 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2563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59E0B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咖啡豆基础：了解你杯中的世界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Noto Sans CJK SC"/>
              </a:rPr>
              <a:t>为什么新手需要先了解咖啡豆基础知识？因为只有了解咖啡豆的品种、新鲜度和形态，才能避免盲目选择，找到真正适合自己的风味。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4 / 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两大咖啡豆种：阿拉比卡 vs 罗布斯塔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ward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阿拉比卡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Noto Sans CJK SC"/>
              </a:rPr>
              <a:t>风味丰富、酸度柔和、咖啡因较低（约占咖啡因总量0.8-1.2%），是精品咖啡的主力，全球产量约60-70%。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iangle-alert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罗布斯塔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苦味重、咖啡因含量高（约2-3%），抗病虫害强，常用于速溶咖啡和商业拼配，风味较粗糙。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ghtbulb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Noto Sans CJK SC"/>
              </a:rPr>
              <a:t>优先选择100%阿拉比卡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新手入门建议从100%阿拉比卡豆开始，例如埃塞俄比亚耶加雪菲或哥伦比亚蕙兰，体验花果香与酸质。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5 / 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咖啡豆新鲜度：为什么重要？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ck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0F172A"/>
                </a:solidFill>
                <a:latin typeface="Noto Sans CJK SC"/>
              </a:rPr>
              <a:t>最佳赏味期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咖啡豆烘焙后2-14天是风味巅峰，香气和酸质最活泼；超过一个月香气明显衰减，出现陈味。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atabase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Noto Sans CJK SC"/>
              </a:rPr>
              <a:t>烘焙日期更重要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包装袋上的烘焙日期比保质期更可靠，购买时务必查看；未开封的豆子需在三个月内使用。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zap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Noto Sans CJK SC"/>
              </a:rPr>
              <a:t>避免预磨咖啡粉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研磨后表面积增大，香气在15分钟内流失过半；整豆保存，喝前现磨最能保留风味。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6 / 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咖啡豆保存要点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ield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Noto Sans CJK SC"/>
              </a:rPr>
              <a:t>避光密封常温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阳光、高温和氧气是咖啡豆三大天敌，密封避光常温保存可使风味延长2-3周。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iangle-alert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Noto Sans CJK SC"/>
              </a:rPr>
              <a:t>切忌放入冰箱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冰箱内湿度和异味会导致咖啡豆吸附水分和杂味，解冻时冷凝水加速品质劣化。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kflow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Noto Sans CJK SC"/>
              </a:rPr>
              <a:t>分装小份密封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将一周用量分装入带有单向排气阀的小袋，减少反复开盖氧化，每次取用不浪费。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7 / 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常见咖啡豆形态：整豆、粉、挂耳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ending-up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整豆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最适合新手，风味保留好，可根据自身喜好调整研磨度，新鲜度可控，推荐入门首选。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zap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咖啡粉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方便快捷但风味衰减快，适合办公室或时间紧迫场景，建议两周内用完并密封保存。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rocket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挂耳包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出差旅行便利选择，独立包装保鲜，但风味不及现磨，适合尝鲜或临时需求。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8 / 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2563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59E0B"/>
                </a:solidFill>
                <a:latin typeface="Noto Sans CJK S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2. 烘焙度：决定风味基调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64748B"/>
                </a:solidFill>
                <a:latin typeface="Noto Sans CJK SC"/>
              </a:rPr>
              <a:t>烘焙度如何改变咖啡豆的酸、甜、苦？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9 / 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浅烘焙：酸质明亮，花香果香突出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ending-up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原始风味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烘焙时间短，保留更多咖啡生豆的原始花果香气和活泼酸质，常见柠檬、莓果、茉莉花等风味。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口感特点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酸度明亮，苦度极低，口感清爽如茶，适合喜欢酸度、追求清新口感的人群。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kflow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冲泡建议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推荐用手冲方式，水温控制在90-92℃之间，充分萃取香气物质，避免过萃导致涩感。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10 / 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中烘焙：平衡的酸甜与醇厚度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ward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风味平衡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酸苦均衡，坚果、焦糖、可可风味常见，是市面上最普适的烘焙度，适合多数新手入门。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orkflow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冲泡兼容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兼容性极强，手冲、法压、意式浓缩均可表现出良好风味，是家庭和咖啡馆常用选择。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clock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水温建议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建议冲泡水温92-94℃，根据研磨度适当调整，萃取时间约2-3分钟。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11 / 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深烘焙：醇厚苦甜，巧克力感强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ins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风味特征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酸度极低，苦味和焦糖甜突出，常见黑巧克力、烤坚果、焦糖风味，醇厚度高。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1632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14240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484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67858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适用场景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4240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适合加奶制作拿铁、卡布奇诺，或喜欢重口味、浓郁咖啡感的爱好者。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1744" y="1783080"/>
            <a:ext cx="3348736" cy="27432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04352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kflow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596" y="2254224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57970" y="2125980"/>
            <a:ext cx="2009901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冲泡建议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4352" y="2859786"/>
            <a:ext cx="2763520" cy="13235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推荐意式浓缩或法压壶冲泡，水温93-96℃，研磨度偏细，萃取油脂更丰富。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12 / 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烘焙度风味对比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691765"/>
            <a:ext cx="5120640" cy="229742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2896" y="3034665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96" y="3034665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FFFFFF"/>
                </a:solidFill>
                <a:latin typeface="Noto Sans CJK SC"/>
              </a:rPr>
              <a:t>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0898" y="303466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浅烘焙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96" y="3823335"/>
            <a:ext cx="44378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0F172A"/>
                </a:solidFill>
                <a:latin typeface="Noto Sans CJK SC"/>
              </a:rPr>
              <a:t>• 酸度：⭐⭐⭐ 明亮活泼，如柠檬与青苹果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Noto Sans CJK SC"/>
              </a:rPr>
              <a:t>• 苦度：⭐ 几乎无苦味</a:t>
            </a:r>
          </a:p>
          <a:p>
            <a:pPr algn="l"/>
            <a:r>
              <a:rPr sz="1300" b="0">
                <a:solidFill>
                  <a:srgbClr val="0F172A"/>
                </a:solidFill>
                <a:latin typeface="Noto Sans CJK SC"/>
              </a:rPr>
              <a:t>• 甜度：⭐⭐ 细腻的果甜，非焦糖甜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840" y="2691765"/>
            <a:ext cx="5120640" cy="2297429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81216" y="3034665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81216" y="3034665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FFFFFF"/>
                </a:solidFill>
                <a:latin typeface="Noto Sans CJK SC"/>
              </a:rPr>
              <a:t>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9218" y="303466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深烘焙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1216" y="3823335"/>
            <a:ext cx="443788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0F172A"/>
                </a:solidFill>
                <a:latin typeface="Noto Sans CJK SC"/>
              </a:rPr>
              <a:t>• 酸度：⭐ 几乎感受不到酸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Noto Sans CJK SC"/>
              </a:rPr>
              <a:t>• 苦度：⭐⭐⭐ 强烈的苦味与焦香</a:t>
            </a:r>
          </a:p>
          <a:p>
            <a:pPr algn="l"/>
            <a:r>
              <a:rPr sz="1500" b="0">
                <a:solidFill>
                  <a:srgbClr val="0F172A"/>
                </a:solidFill>
                <a:latin typeface="Noto Sans CJK SC"/>
              </a:rPr>
              <a:t>• 甜度：⭐⭐ 浓郁的焦糖与黑巧克力甜</a:t>
            </a:r>
          </a:p>
        </p:txBody>
      </p:sp>
      <p:sp>
        <p:nvSpPr>
          <p:cNvPr id="13" name="Oval 12"/>
          <p:cNvSpPr/>
          <p:nvPr/>
        </p:nvSpPr>
        <p:spPr>
          <a:xfrm>
            <a:off x="5684520" y="342900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4520" y="34290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13 / 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2563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59E0B"/>
                </a:solidFill>
                <a:latin typeface="Noto Sans CJK SC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3. 产地与处理法：风味的源头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64748B"/>
                </a:solidFill>
                <a:latin typeface="Noto Sans CJK SC"/>
              </a:rPr>
              <a:t>不同产地的咖啡豆风味有何差异？处理法如何影响口感？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14 / 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核心产地产区概览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ending-up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非洲：花香果酸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oto Sans CJK SC"/>
              </a:rPr>
              <a:t>埃塞俄比亚的耶加雪菲以茉莉花香和柑橘酸闻名，肯尼亚则有强烈的莓果酸和乌梅风味，适合喜欢明亮酸质的人。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6688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9296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ward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540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2914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0">
                <a:solidFill>
                  <a:srgbClr val="0F172A"/>
                </a:solidFill>
                <a:latin typeface="Noto Sans CJK SC"/>
              </a:rPr>
              <a:t>中南美洲：均衡坚果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9296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oto Sans CJK SC"/>
              </a:rPr>
              <a:t>哥伦比亚咖啡常带有坚果、焦糖和均衡的酸度，巴西以巧克力和坚果调性为主，醇厚顺滑，是大众最熟悉的风味。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7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ghtbulb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72" y="4407636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77746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0">
                <a:solidFill>
                  <a:srgbClr val="0F172A"/>
                </a:solidFill>
                <a:latin typeface="Noto Sans CJK SC"/>
              </a:rPr>
              <a:t>亚洲：草药香料醇厚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oto Sans CJK SC"/>
              </a:rPr>
              <a:t>印尼苏门答腊的曼特宁有草本、香料和厚重醇感，云南咖啡呈现茶感、坚果和柔和果酸，风味内敛。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6688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9296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arget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540" y="4407636"/>
            <a:ext cx="326440" cy="326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2914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新手推荐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9296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Noto Sans CJK SC"/>
              </a:rPr>
              <a:t>哥伦比亚和埃塞俄比亚的咖啡风味鲜明且接受度高，适合初次探索单品咖啡的人选择。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15 / 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处理法：从咖啡果到咖啡豆的步骤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orkflow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日晒处理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oto Sans CJK SC"/>
              </a:rPr>
              <a:t>将完整咖啡果直接晾晒，果肉发酵带入甜感，风味浓郁复杂，常带有热带水果和发酵感，适合喜欢醇厚口感的人。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6688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9296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ward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540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2914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水洗处理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9296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Noto Sans CJK SC"/>
              </a:rPr>
              <a:t>去除果肉后发酵洗净，咖啡豆干净明亮，酸度活泼，风味纯粹，能清晰展现产地本身的风土特色。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7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ghtbulb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72" y="4407636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77746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蜜处理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Noto Sans CJK SC"/>
              </a:rPr>
              <a:t>保留部分果胶层晾晒，甜度介于日晒和水洗之间，body 中等，风味上能同时感受到果酸和甜感。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6688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9296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riangle-alert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540" y="4407636"/>
            <a:ext cx="326440" cy="326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2914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特殊处理法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9296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Noto Sans CJK SC"/>
              </a:rPr>
              <a:t>如酒桶发酵、厌氧发酵等，通过额外工艺创造独特风味，但风味可能两极分化，建议有一定品鉴经验再尝试。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16 / 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常见处理法风味对比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554605"/>
            <a:ext cx="5120640" cy="25717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2896" y="2897505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2896" y="2897505"/>
            <a:ext cx="582930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300" b="0">
                <a:solidFill>
                  <a:srgbClr val="FFFFFF"/>
                </a:solidFill>
                <a:latin typeface="Noto Sans CJK SC"/>
              </a:rPr>
              <a:t>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50898" y="289750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日晒 vs 水洗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96" y="3686175"/>
            <a:ext cx="443788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日晒：复杂度高，甜感强，body厚，风味像水果炸弹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水洗：干净明亮，酸度活泼，body清亮，能喝到清晰的花香果酸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39840" y="2554605"/>
            <a:ext cx="5120640" cy="257175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81216" y="2897505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humbs-up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9460" y="3025749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59218" y="2897505"/>
            <a:ext cx="3659885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300" b="0">
                <a:solidFill>
                  <a:srgbClr val="0F172A"/>
                </a:solidFill>
                <a:latin typeface="Noto Sans CJK SC"/>
              </a:rPr>
              <a:t>蜜处理 vs 新手推荐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1216" y="3686175"/>
            <a:ext cx="443788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蜜处理：甜感明显，body介于两者之间，酸甜平衡</a:t>
            </a:r>
          </a:p>
          <a:p>
            <a:pPr algn="l"/>
            <a:r>
              <a:rPr sz="1600" b="0">
                <a:solidFill>
                  <a:srgbClr val="0F172A"/>
                </a:solidFill>
                <a:latin typeface="Noto Sans CJK SC"/>
              </a:rPr>
              <a:t>• 新手推荐：先水洗，再尝试日晒，逐步探索风味复杂度</a:t>
            </a:r>
          </a:p>
        </p:txBody>
      </p:sp>
      <p:sp>
        <p:nvSpPr>
          <p:cNvPr id="13" name="Oval 12"/>
          <p:cNvSpPr/>
          <p:nvPr/>
        </p:nvSpPr>
        <p:spPr>
          <a:xfrm>
            <a:off x="5684520" y="342900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4520" y="342900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VS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17 / 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产地+处理法组合示例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ightbulb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Noto Sans CJK SC"/>
              </a:rPr>
              <a:t>埃塞俄比亚 耶加雪菲 水洗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Noto Sans CJK SC"/>
              </a:rPr>
              <a:t>经典柑橘和茉莉花香，口感干净明亮，是入门非洲豆的首选，几乎不会出错。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6688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9296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ward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540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2914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0F172A"/>
                </a:solidFill>
                <a:latin typeface="Noto Sans CJK SC"/>
              </a:rPr>
              <a:t>哥伦比亚 蕙兰 蜜处理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9296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焦糖甜感与莓果酸交融，酸甜平衡，body顺滑，展示蜜处理的魅力。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7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iangle-alert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72" y="4407636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77746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200" b="0">
                <a:solidFill>
                  <a:srgbClr val="0F172A"/>
                </a:solidFill>
                <a:latin typeface="Noto Sans CJK SC"/>
              </a:rPr>
              <a:t>苏门答腊 林东 湿刨法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草药、香料风味，醇厚度高，适合喜欢重口感和独特风味的进阶者。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6688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9296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arget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540" y="4407636"/>
            <a:ext cx="326440" cy="326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2914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新手推荐组合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9296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Noto Sans CJK SC"/>
              </a:rPr>
              <a:t>埃塞水洗和哥伦比亚蜜处理是两种风格迥异但都很友好的选择，建议对比品鉴。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18 / 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2563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59E0B"/>
                </a:solidFill>
                <a:latin typeface="Noto Sans CJK SC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4. 风味描述与包装标签：读懂咖啡的语言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64748B"/>
                </a:solidFill>
                <a:latin typeface="Noto Sans CJK SC"/>
              </a:rPr>
              <a:t>包装上的风味描述是营销还是真实？如何辨别？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19 / 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常见风味描述词汇解析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ward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酸度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Noto Sans CJK SC"/>
              </a:rPr>
              <a:t>优质酸用“明亮”“活泼”形容，如耶加雪菲的柠檬酸，避免“尖锐”或“刺激”的酸。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6688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9296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rending-up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540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2914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甜感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9296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常见的甜感描述有焦糖、蜂蜜、巧克力、太妃糖等，通常与烘焙度相关。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7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it-compare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72" y="4407636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77746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醇厚度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从轻盈如茶到厚重如奶油，对应不同口感，如曼特宁醇厚、瑰夏轻盈。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6688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9296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lock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540" y="4407636"/>
            <a:ext cx="326440" cy="326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2914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余韵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9296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风味在口中停留时间长短，好的余韵可持续数十秒且令人愉悦。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20 / 29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包装标签上必看的信息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lock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烘焙日期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最核心信息，咖啡豆最佳风味期在烘焙后7-30天内，越新鲜越好。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6688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9296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lightbulb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540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2914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产地信息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9296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4748B"/>
                </a:solidFill>
                <a:latin typeface="Noto Sans CJK SC"/>
              </a:rPr>
              <a:t>包含国家、产区、庄园等，如埃塞俄比亚·耶加雪菲·果丁丁，有助于追溯品质。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7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orkflow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72" y="4407636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77746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处理法与烘焙度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水洗、日晒、蜜处理等影响风味；浅中烘焙保留花果香，深烘焙偏苦醇。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6688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9296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riangle-alert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540" y="4407636"/>
            <a:ext cx="326440" cy="326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2914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风味描述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9296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仅供参考，如“蓝莓、茉莉花”，需自行体验，同一批次可能风味不同。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21 / 29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如何避免被“风味描述”误导？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iangle-alert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Noto Sans CJK SC"/>
              </a:rPr>
              <a:t>风味描述是商家的最佳猜测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64748B"/>
                </a:solidFill>
                <a:latin typeface="Noto Sans CJK SC"/>
              </a:rPr>
              <a:t>并非绝对，受批次、烘焙师主观影响，同一支豆不同批次风味描述可能变化。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6688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9296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orkflow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540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2914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0">
                <a:solidFill>
                  <a:srgbClr val="0F172A"/>
                </a:solidFill>
                <a:latin typeface="Noto Sans CJK SC"/>
              </a:rPr>
              <a:t>烘焙和冲煮会改变风味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9296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同一支豆子，中浅烘焙和深烘焙风味截然不同，冲煮参数也影响萃取。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7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ending-up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72" y="4407636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77746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900" b="0">
                <a:solidFill>
                  <a:srgbClr val="0F172A"/>
                </a:solidFill>
                <a:latin typeface="Noto Sans CJK SC"/>
              </a:rPr>
              <a:t>多喝多比较培养味觉记忆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建议每周尝试1-2种不同产区或处理法的咖啡，对比记录风味差异。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6688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9296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ightbulb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540" y="4407636"/>
            <a:ext cx="326440" cy="326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2914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相信自己的舌头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9296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Noto Sans CJK SC"/>
              </a:rPr>
              <a:t>包装上写“蓝莓”你喝不到，不必气馁；你觉得好喝就是好豆。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22 / 29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22080" y="822960"/>
            <a:ext cx="5608320" cy="5608320"/>
          </a:xfrm>
          <a:prstGeom prst="ellipse">
            <a:avLst/>
          </a:prstGeom>
          <a:solidFill>
            <a:srgbClr val="F59E0B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" y="1371600"/>
            <a:ext cx="617220" cy="6172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9200" y="2331720"/>
            <a:ext cx="9753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0F172A"/>
                </a:solidFill>
                <a:latin typeface="Noto Sans CJK SC"/>
              </a:rPr>
              <a:t>风味描述引导你尝试，但不承诺100%还原，经验积累才是关键。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4526280"/>
            <a:ext cx="9753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64748B"/>
                </a:solidFill>
                <a:latin typeface="Noto Sans CJK SC"/>
              </a:rPr>
              <a:t>调查显示，超过60%的新手咖啡爱好者曾因喝不出描述风味而怀疑自己，但坚持品鉴后能辨识出更丰富的层次。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23 / 29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8580" y="1851660"/>
            <a:ext cx="3154680" cy="315468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rkles__2563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640" y="2331720"/>
            <a:ext cx="2194560" cy="2194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192024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59E0B"/>
                </a:solidFill>
                <a:latin typeface="Noto Sans CJK S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8275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选豆决策框架：三步找到你的豆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69180"/>
            <a:ext cx="68275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0">
                <a:solidFill>
                  <a:srgbClr val="64748B"/>
                </a:solidFill>
                <a:latin typeface="Noto Sans CJK SC"/>
              </a:rPr>
              <a:t>一个简单易行的决策流程，让新手也能自信选豆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24 / 29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第一步：确定烘焙度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400" y="2870073"/>
            <a:ext cx="7315200" cy="2057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269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26919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偏好匹配: 爱喝黑咖啡选浅中烘（酸香明亮），爱加奶选深烘（醇厚苦甜），无偏好从中度烘焙开始探索。</a:t>
            </a:r>
          </a:p>
        </p:txBody>
      </p:sp>
      <p:sp>
        <p:nvSpPr>
          <p:cNvPr id="7" name="Oval 6"/>
          <p:cNvSpPr/>
          <p:nvPr/>
        </p:nvSpPr>
        <p:spPr>
          <a:xfrm>
            <a:off x="56845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84519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小份试错: 每次买100-200g小包装，避免囤积不喜欢的豆子造成浪费，同时多试几种风格。</a:t>
            </a:r>
          </a:p>
        </p:txBody>
      </p:sp>
      <p:sp>
        <p:nvSpPr>
          <p:cNvPr id="10" name="Oval 9"/>
          <p:cNvSpPr/>
          <p:nvPr/>
        </p:nvSpPr>
        <p:spPr>
          <a:xfrm>
            <a:off x="93421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orkflow_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630" y="2666390"/>
            <a:ext cx="427939" cy="4279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19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步骤3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25 / 29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第二步：选择产地产区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400" y="2870073"/>
            <a:ext cx="7315200" cy="2057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269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26919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选国家: 从大众认知度高的产区入手，如哥伦比亚（均衡坚果）或埃塞俄比亚（花果香），降低踩雷风险。</a:t>
            </a:r>
          </a:p>
        </p:txBody>
      </p:sp>
      <p:sp>
        <p:nvSpPr>
          <p:cNvPr id="7" name="Oval 6"/>
          <p:cNvSpPr/>
          <p:nvPr/>
        </p:nvSpPr>
        <p:spPr>
          <a:xfrm>
            <a:off x="56845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84519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看包装: 优先标注单一产地（如“哥伦比亚蕙兰”）而非拼配，更容易追溯到风味特征。</a:t>
            </a:r>
          </a:p>
        </p:txBody>
      </p:sp>
      <p:sp>
        <p:nvSpPr>
          <p:cNvPr id="10" name="Oval 9"/>
          <p:cNvSpPr/>
          <p:nvPr/>
        </p:nvSpPr>
        <p:spPr>
          <a:xfrm>
            <a:off x="93421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orkflow_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630" y="2666390"/>
            <a:ext cx="427939" cy="4279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19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步骤3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26 / 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第三步：挑选处理法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2438400" y="2870073"/>
            <a:ext cx="7315200" cy="20574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269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26919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按风味选: 水洗处理法口感干净酸质明亮，日晒法甜感足、热带水果风味明显，蜜处理介于两者之间。</a:t>
            </a:r>
          </a:p>
        </p:txBody>
      </p:sp>
      <p:sp>
        <p:nvSpPr>
          <p:cNvPr id="7" name="Oval 6"/>
          <p:cNvSpPr/>
          <p:nvPr/>
        </p:nvSpPr>
        <p:spPr>
          <a:xfrm>
            <a:off x="56845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84519" y="2468880"/>
            <a:ext cx="82296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0">
                <a:solidFill>
                  <a:srgbClr val="F59E0B"/>
                </a:solidFill>
                <a:latin typeface="Noto Sans CJK S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优先水洗: 新手从水洗开始最安全，风味稳定且瑕疵率低；同时记录每款豆的信息，逐步建立喜好档案。</a:t>
            </a:r>
          </a:p>
        </p:txBody>
      </p:sp>
      <p:sp>
        <p:nvSpPr>
          <p:cNvPr id="10" name="Oval 9"/>
          <p:cNvSpPr/>
          <p:nvPr/>
        </p:nvSpPr>
        <p:spPr>
          <a:xfrm>
            <a:off x="9342119" y="2468880"/>
            <a:ext cx="822960" cy="822960"/>
          </a:xfrm>
          <a:prstGeom prst="ellipse">
            <a:avLst/>
          </a:prstGeom>
          <a:solidFill>
            <a:srgbClr val="F1F5F9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workflow__f5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9630" y="2666390"/>
            <a:ext cx="427939" cy="42793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46719" y="3429000"/>
            <a:ext cx="341375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0F172A"/>
                </a:solidFill>
                <a:latin typeface="Noto Sans CJK SC"/>
              </a:rPr>
              <a:t>步骤3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27 / 29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728960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0F172A"/>
                </a:solidFill>
                <a:latin typeface="Noto Sans CJK SC"/>
              </a:rPr>
              <a:t>决策框架总结图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7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orkflow_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72" y="2254224"/>
            <a:ext cx="326440" cy="326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77746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三步流程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7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Noto Sans CJK SC"/>
              </a:rPr>
              <a:t>选烘焙度 → 选产地 → 选处理法，按顺序执行即可覆盖选豆核心变量，无需同时纠结所有因素。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6688" y="1783080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59296" y="2125980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it-compare_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540" y="2254224"/>
            <a:ext cx="326440" cy="326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2914" y="2125980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单一变量法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9296" y="2859786"/>
            <a:ext cx="4608576" cy="5417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Noto Sans CJK SC"/>
              </a:rPr>
              <a:t>每次只改变一个步骤（如保持产地换烘焙度），便于对比学习不同参数对风味的真实影响。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24127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ightbulb_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372" y="4407636"/>
            <a:ext cx="326440" cy="3264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777746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记录与验证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7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Noto Sans CJK SC"/>
              </a:rPr>
              <a:t>记录喝到的香气、酸度、余韵等，与包装袋上的风味描述对照，逐步提升自己的品鉴与选豆能力。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6688" y="3936492"/>
            <a:ext cx="5193792" cy="1961387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9525">
            <a:solidFill>
              <a:srgbClr val="E2E8F0"/>
            </a:solidFill>
          </a:ln>
          <a:effectLst>
            <a:outerShdw blurRad="90000" dist="30000" dir="5400000" rotWithShape="0">
              <a:srgbClr val="0f172a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559296" y="4279392"/>
            <a:ext cx="582930" cy="58293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rending-up_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7540" y="4407636"/>
            <a:ext cx="326440" cy="3264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2914" y="4279392"/>
            <a:ext cx="3854957" cy="58293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0F172A"/>
                </a:solidFill>
                <a:latin typeface="Noto Sans CJK SC"/>
              </a:rPr>
              <a:t>勇敢尝试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9296" y="5013198"/>
            <a:ext cx="4608576" cy="5417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64748B"/>
                </a:solidFill>
                <a:latin typeface="Noto Sans CJK SC"/>
              </a:rPr>
              <a:t>咖啡风味没有绝对对错，大胆尝试不同组合，享受探索未知风味的乐趣，每次试错都是进步。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6377940"/>
            <a:ext cx="1950720" cy="342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Noto Sans CJK SC"/>
              </a:rPr>
              <a:t>28 / 29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lean_bl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7068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53500" y="3909060"/>
            <a:ext cx="4526280" cy="4526280"/>
          </a:xfrm>
          <a:prstGeom prst="ellipse">
            <a:avLst/>
          </a:prstGeom>
          <a:solidFill>
            <a:srgbClr val="2563EB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parkles__2563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1719" y="960120"/>
            <a:ext cx="822960" cy="822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4416" y="3429000"/>
            <a:ext cx="858316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0F172A"/>
                </a:solidFill>
                <a:latin typeface="Noto Sans CJK SC"/>
              </a:rPr>
              <a:t>下一步行动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4416" y="4046220"/>
            <a:ext cx="8583168" cy="3429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0">
                <a:solidFill>
                  <a:srgbClr val="64748B"/>
                </a:solidFill>
                <a:latin typeface="Noto Sans CJK SC"/>
              </a:rPr>
              <a:t>立即动手，将知识转化为体验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4416" y="4457699"/>
            <a:ext cx="8583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  <a:latin typeface="Noto Sans CJK SC"/>
              </a:rPr>
              <a:t>去附近的咖啡店或线上平台，选一款感兴趣的豆子，按照今天学到的框架分析它，准备一杯时间，…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